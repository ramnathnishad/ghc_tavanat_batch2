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3" r:id="rId2"/>
    <p:sldId id="346" r:id="rId3"/>
    <p:sldId id="349" r:id="rId4"/>
    <p:sldId id="350" r:id="rId5"/>
    <p:sldId id="351" r:id="rId6"/>
    <p:sldId id="352" r:id="rId7"/>
    <p:sldId id="353" r:id="rId8"/>
    <p:sldId id="354" r:id="rId9"/>
    <p:sldId id="361" r:id="rId10"/>
    <p:sldId id="362" r:id="rId11"/>
    <p:sldId id="355" r:id="rId12"/>
    <p:sldId id="356" r:id="rId13"/>
    <p:sldId id="357" r:id="rId14"/>
    <p:sldId id="358" r:id="rId15"/>
    <p:sldId id="359" r:id="rId16"/>
    <p:sldId id="360" r:id="rId17"/>
    <p:sldId id="363" r:id="rId18"/>
    <p:sldId id="364" r:id="rId19"/>
    <p:sldId id="365" r:id="rId20"/>
    <p:sldId id="322" r:id="rId21"/>
    <p:sldId id="323" r:id="rId22"/>
    <p:sldId id="324" r:id="rId23"/>
    <p:sldId id="325" r:id="rId24"/>
    <p:sldId id="326" r:id="rId25"/>
    <p:sldId id="327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323"/>
    <a:srgbClr val="2A2A2A"/>
    <a:srgbClr val="212121"/>
    <a:srgbClr val="262626"/>
    <a:srgbClr val="3A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61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58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836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81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676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668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411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316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53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374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78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B8BF7-18B5-4007-BEA7-CEDB67F2B5B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9167F-2527-4AB3-8F50-D3010F11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40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How to improve GitHub Copilot Chat responses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Scope </a:t>
            </a:r>
            <a:r>
              <a:rPr lang="en-IN" dirty="0" smtClean="0">
                <a:solidFill>
                  <a:schemeClr val="bg1"/>
                </a:solidFill>
              </a:rPr>
              <a:t>referencing: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#</a:t>
            </a:r>
            <a:r>
              <a:rPr lang="en-IN" dirty="0" smtClean="0">
                <a:solidFill>
                  <a:schemeClr val="bg1"/>
                </a:solidFill>
              </a:rPr>
              <a:t>file: filename</a:t>
            </a:r>
          </a:p>
          <a:p>
            <a:pPr lvl="1"/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Implicit </a:t>
            </a:r>
            <a:r>
              <a:rPr lang="en-IN" dirty="0" smtClean="0">
                <a:solidFill>
                  <a:schemeClr val="bg1"/>
                </a:solidFill>
              </a:rPr>
              <a:t>prompts like Slash commands: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/</a:t>
            </a:r>
            <a:r>
              <a:rPr lang="en-IN" dirty="0" smtClean="0">
                <a:solidFill>
                  <a:schemeClr val="bg1"/>
                </a:solidFill>
              </a:rPr>
              <a:t>doc /explain /fix /new /tests</a:t>
            </a:r>
          </a:p>
          <a:p>
            <a:pPr lvl="1"/>
            <a:endParaRPr lang="en-IN" dirty="0">
              <a:solidFill>
                <a:schemeClr val="bg1"/>
              </a:solidFill>
            </a:endParaRPr>
          </a:p>
          <a:p>
            <a:r>
              <a:rPr lang="en-IN" dirty="0" err="1" smtClean="0">
                <a:solidFill>
                  <a:schemeClr val="bg1"/>
                </a:solidFill>
              </a:rPr>
              <a:t>Copilot</a:t>
            </a:r>
            <a:r>
              <a:rPr lang="en-IN" dirty="0" smtClean="0">
                <a:solidFill>
                  <a:schemeClr val="bg1"/>
                </a:solidFill>
              </a:rPr>
              <a:t> agents</a:t>
            </a:r>
          </a:p>
          <a:p>
            <a:pPr marL="742950" lvl="2" indent="-342900"/>
            <a:r>
              <a:rPr lang="en-IN" dirty="0" smtClean="0">
                <a:solidFill>
                  <a:schemeClr val="bg1"/>
                </a:solidFill>
              </a:rPr>
              <a:t>@</a:t>
            </a:r>
            <a:r>
              <a:rPr lang="en-IN" dirty="0">
                <a:solidFill>
                  <a:schemeClr val="bg1"/>
                </a:solidFill>
              </a:rPr>
              <a:t>terminal</a:t>
            </a:r>
            <a:r>
              <a:rPr lang="en-IN" dirty="0" smtClean="0">
                <a:solidFill>
                  <a:schemeClr val="bg1"/>
                </a:solidFill>
              </a:rPr>
              <a:t>, @</a:t>
            </a:r>
            <a:r>
              <a:rPr lang="en-IN" dirty="0" err="1" smtClean="0">
                <a:solidFill>
                  <a:schemeClr val="bg1"/>
                </a:solidFill>
              </a:rPr>
              <a:t>vscode</a:t>
            </a:r>
            <a:r>
              <a:rPr lang="en-IN" dirty="0" smtClean="0">
                <a:solidFill>
                  <a:schemeClr val="bg1"/>
                </a:solidFill>
              </a:rPr>
              <a:t>, @selection</a:t>
            </a:r>
            <a:r>
              <a:rPr lang="en-IN" dirty="0">
                <a:solidFill>
                  <a:schemeClr val="bg1"/>
                </a:solidFill>
              </a:rPr>
              <a:t>, </a:t>
            </a:r>
            <a:r>
              <a:rPr lang="en-IN" dirty="0" smtClean="0">
                <a:solidFill>
                  <a:schemeClr val="bg1"/>
                </a:solidFill>
              </a:rPr>
              <a:t>….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28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solidFill>
                  <a:srgbClr val="00B050"/>
                </a:solidFill>
              </a:rPr>
              <a:t>Copilot</a:t>
            </a:r>
            <a:r>
              <a:rPr lang="en-IN" dirty="0">
                <a:solidFill>
                  <a:srgbClr val="00B050"/>
                </a:solidFill>
              </a:rPr>
              <a:t> </a:t>
            </a:r>
            <a:r>
              <a:rPr lang="en-IN" dirty="0" smtClean="0">
                <a:solidFill>
                  <a:srgbClr val="00B050"/>
                </a:solidFill>
              </a:rPr>
              <a:t>Agents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rgbClr val="FFC000"/>
                </a:solidFill>
              </a:rPr>
              <a:t>What </a:t>
            </a:r>
            <a:r>
              <a:rPr lang="en-IN" dirty="0">
                <a:solidFill>
                  <a:srgbClr val="FFC000"/>
                </a:solidFill>
              </a:rPr>
              <a:t>it </a:t>
            </a:r>
            <a:r>
              <a:rPr lang="en-IN" dirty="0" smtClean="0">
                <a:solidFill>
                  <a:srgbClr val="FFC000"/>
                </a:solidFill>
              </a:rPr>
              <a:t>does?</a:t>
            </a:r>
          </a:p>
          <a:p>
            <a:r>
              <a:rPr lang="en-US" dirty="0">
                <a:solidFill>
                  <a:schemeClr val="bg1"/>
                </a:solidFill>
              </a:rPr>
              <a:t>I</a:t>
            </a:r>
            <a:r>
              <a:rPr lang="en-US" dirty="0" smtClean="0">
                <a:solidFill>
                  <a:schemeClr val="bg1"/>
                </a:solidFill>
              </a:rPr>
              <a:t>nstead </a:t>
            </a:r>
            <a:r>
              <a:rPr lang="en-US" dirty="0">
                <a:solidFill>
                  <a:schemeClr val="bg1"/>
                </a:solidFill>
              </a:rPr>
              <a:t>of editing one file based on a prompt, now it can edit multiple files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should know </a:t>
            </a:r>
            <a:r>
              <a:rPr lang="en-US" dirty="0">
                <a:solidFill>
                  <a:schemeClr val="bg1"/>
                </a:solidFill>
              </a:rPr>
              <a:t>the right prompt and the right files to </a:t>
            </a:r>
            <a:r>
              <a:rPr lang="en-US" dirty="0" smtClean="0">
                <a:solidFill>
                  <a:schemeClr val="bg1"/>
                </a:solidFill>
              </a:rPr>
              <a:t>indicate.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</a:t>
            </a:r>
            <a:r>
              <a:rPr lang="en-US" dirty="0">
                <a:solidFill>
                  <a:schemeClr val="bg1"/>
                </a:solidFill>
              </a:rPr>
              <a:t>can simply add new features or make big changes into our workspace with the assistance of </a:t>
            </a:r>
            <a:r>
              <a:rPr lang="en-US" dirty="0" smtClean="0">
                <a:solidFill>
                  <a:schemeClr val="bg1"/>
                </a:solidFill>
              </a:rPr>
              <a:t>GitHub Copilot </a:t>
            </a:r>
            <a:r>
              <a:rPr lang="en-US" dirty="0">
                <a:solidFill>
                  <a:schemeClr val="bg1"/>
                </a:solidFill>
              </a:rPr>
              <a:t>with just one or multiple </a:t>
            </a:r>
            <a:r>
              <a:rPr lang="en-US" dirty="0" smtClean="0">
                <a:solidFill>
                  <a:schemeClr val="bg1"/>
                </a:solidFill>
              </a:rPr>
              <a:t>prompts.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So </a:t>
            </a:r>
            <a:r>
              <a:rPr lang="en-US" dirty="0">
                <a:solidFill>
                  <a:schemeClr val="bg1"/>
                </a:solidFill>
              </a:rPr>
              <a:t>we can have multiple new features inside our application.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59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>
                <a:solidFill>
                  <a:srgbClr val="00B050"/>
                </a:solidFill>
              </a:rPr>
              <a:t>Code Development features of GitHub Copilot</a:t>
            </a:r>
            <a:endParaRPr lang="en-IN" sz="32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GitHub Copilot tools in Visual Studio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Code</a:t>
            </a:r>
          </a:p>
          <a:p>
            <a:r>
              <a:rPr lang="en-US" b="1" dirty="0">
                <a:solidFill>
                  <a:srgbClr val="FFC000"/>
                </a:solidFill>
              </a:rPr>
              <a:t>Code line completions</a:t>
            </a:r>
            <a:r>
              <a:rPr lang="en-US" dirty="0">
                <a:solidFill>
                  <a:schemeClr val="bg1"/>
                </a:solidFill>
              </a:rPr>
              <a:t>: Use code line completions to write code more efficiently.</a:t>
            </a:r>
          </a:p>
          <a:p>
            <a:r>
              <a:rPr lang="en-US" b="1" dirty="0">
                <a:solidFill>
                  <a:srgbClr val="FFC000"/>
                </a:solidFill>
              </a:rPr>
              <a:t>Inline chat</a:t>
            </a:r>
            <a:r>
              <a:rPr lang="en-US" dirty="0">
                <a:solidFill>
                  <a:schemeClr val="bg1"/>
                </a:solidFill>
              </a:rPr>
              <a:t>: Start an inline chat conversation directly from the editor for help while you're coding.</a:t>
            </a:r>
          </a:p>
          <a:p>
            <a:r>
              <a:rPr lang="en-US" b="1" dirty="0">
                <a:solidFill>
                  <a:srgbClr val="FFC000"/>
                </a:solidFill>
              </a:rPr>
              <a:t>Chat view</a:t>
            </a:r>
            <a:r>
              <a:rPr lang="en-US" dirty="0">
                <a:solidFill>
                  <a:schemeClr val="bg1"/>
                </a:solidFill>
              </a:rPr>
              <a:t>: Open an AI assistant on the side that can help you at any time.</a:t>
            </a:r>
          </a:p>
          <a:p>
            <a:r>
              <a:rPr lang="en-US" b="1" dirty="0">
                <a:solidFill>
                  <a:srgbClr val="FFC000"/>
                </a:solidFill>
              </a:rPr>
              <a:t>Quick Chat</a:t>
            </a:r>
            <a:r>
              <a:rPr lang="en-US" dirty="0">
                <a:solidFill>
                  <a:schemeClr val="bg1"/>
                </a:solidFill>
              </a:rPr>
              <a:t>: Ask a quick question and get back into what you're doing.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75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Examine GitHub Copilot best </a:t>
            </a:r>
            <a:r>
              <a:rPr lang="en-US" b="1" dirty="0" smtClean="0">
                <a:solidFill>
                  <a:srgbClr val="00B050"/>
                </a:solidFill>
              </a:rPr>
              <a:t>practices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5325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GitHub Copilot is an AI pair programmer, it's not a programmer. To get the most out of the GitHub Copilot tools, you need to follow best practices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GitHub Copilot is a powerful tool that can help you write code faster and with fewer errors.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However</a:t>
            </a:r>
            <a:r>
              <a:rPr lang="en-US" dirty="0">
                <a:solidFill>
                  <a:schemeClr val="bg1"/>
                </a:solidFill>
              </a:rPr>
              <a:t>, to get the most out of GitHub Copilot, you need to follow best practices.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By </a:t>
            </a:r>
            <a:r>
              <a:rPr lang="en-US" dirty="0">
                <a:solidFill>
                  <a:schemeClr val="bg1"/>
                </a:solidFill>
              </a:rPr>
              <a:t>choosing the right Copilot tool for the job, providing context, and following good coding practices, you can optimize your experience with GitHub Copilot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12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B050"/>
                </a:solidFill>
              </a:rPr>
              <a:t>Best Practices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Code completions provide the most value when they're used to:</a:t>
            </a:r>
          </a:p>
          <a:p>
            <a:r>
              <a:rPr lang="en-US" dirty="0">
                <a:solidFill>
                  <a:schemeClr val="bg1"/>
                </a:solidFill>
              </a:rPr>
              <a:t>Complete code snippets, variable names, and functions as you write them.</a:t>
            </a:r>
          </a:p>
          <a:p>
            <a:r>
              <a:rPr lang="en-US" dirty="0">
                <a:solidFill>
                  <a:schemeClr val="bg1"/>
                </a:solidFill>
              </a:rPr>
              <a:t>Generate repetitive code.</a:t>
            </a:r>
          </a:p>
          <a:p>
            <a:r>
              <a:rPr lang="en-US" dirty="0">
                <a:solidFill>
                  <a:schemeClr val="bg1"/>
                </a:solidFill>
              </a:rPr>
              <a:t>Generate code from inline comments in natural language.</a:t>
            </a:r>
          </a:p>
          <a:p>
            <a:r>
              <a:rPr lang="en-US" dirty="0">
                <a:solidFill>
                  <a:schemeClr val="bg1"/>
                </a:solidFill>
              </a:rPr>
              <a:t>Generate tests for test-driven development.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61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50"/>
                </a:solidFill>
              </a:rPr>
              <a:t>Best Practices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0405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GitHub Copilot's chat features provide the most value when they're used to:</a:t>
            </a:r>
          </a:p>
          <a:p>
            <a:r>
              <a:rPr lang="en-US" dirty="0">
                <a:solidFill>
                  <a:schemeClr val="bg1"/>
                </a:solidFill>
              </a:rPr>
              <a:t>Answer questions about code in natural language.</a:t>
            </a:r>
          </a:p>
          <a:p>
            <a:r>
              <a:rPr lang="en-US" dirty="0">
                <a:solidFill>
                  <a:schemeClr val="bg1"/>
                </a:solidFill>
              </a:rPr>
              <a:t>Generate large sections of code, then iterate on that code to meet your needs.</a:t>
            </a:r>
          </a:p>
          <a:p>
            <a:r>
              <a:rPr lang="en-US" dirty="0">
                <a:solidFill>
                  <a:schemeClr val="bg1"/>
                </a:solidFill>
              </a:rPr>
              <a:t>Accomplish specific tasks with keywords and skills. </a:t>
            </a:r>
            <a:r>
              <a:rPr lang="en-US" dirty="0" smtClean="0">
                <a:solidFill>
                  <a:schemeClr val="bg1"/>
                </a:solidFill>
              </a:rPr>
              <a:t>Different </a:t>
            </a:r>
            <a:r>
              <a:rPr lang="en-US" dirty="0">
                <a:solidFill>
                  <a:schemeClr val="bg1"/>
                </a:solidFill>
              </a:rPr>
              <a:t>types of keywords and skills are available in different Copilot Chat platforms.</a:t>
            </a:r>
          </a:p>
          <a:p>
            <a:r>
              <a:rPr lang="en-US" dirty="0">
                <a:solidFill>
                  <a:schemeClr val="bg1"/>
                </a:solidFill>
              </a:rPr>
              <a:t>Complete a task as a specific persona. 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43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50"/>
                </a:solidFill>
              </a:rPr>
              <a:t>Best Practices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Get the most out of Copilot inline suggestions</a:t>
            </a:r>
          </a:p>
          <a:p>
            <a:r>
              <a:rPr lang="en-US" dirty="0">
                <a:solidFill>
                  <a:schemeClr val="bg1"/>
                </a:solidFill>
              </a:rPr>
              <a:t>Provide context for GitHub Copilot</a:t>
            </a:r>
          </a:p>
          <a:p>
            <a:r>
              <a:rPr lang="en-IN" dirty="0">
                <a:solidFill>
                  <a:schemeClr val="bg1"/>
                </a:solidFill>
              </a:rPr>
              <a:t>Open files</a:t>
            </a:r>
          </a:p>
          <a:p>
            <a:r>
              <a:rPr lang="en-IN" dirty="0">
                <a:solidFill>
                  <a:schemeClr val="bg1"/>
                </a:solidFill>
              </a:rPr>
              <a:t>Top level comment</a:t>
            </a:r>
          </a:p>
          <a:p>
            <a:r>
              <a:rPr lang="en-IN" dirty="0">
                <a:solidFill>
                  <a:schemeClr val="bg1"/>
                </a:solidFill>
              </a:rPr>
              <a:t>Appropriate includes and references</a:t>
            </a:r>
          </a:p>
          <a:p>
            <a:r>
              <a:rPr lang="en-IN" dirty="0">
                <a:solidFill>
                  <a:schemeClr val="bg1"/>
                </a:solidFill>
              </a:rPr>
              <a:t>Meaningful function names</a:t>
            </a:r>
          </a:p>
          <a:p>
            <a:r>
              <a:rPr lang="en-US" dirty="0">
                <a:solidFill>
                  <a:schemeClr val="bg1"/>
                </a:solidFill>
              </a:rPr>
              <a:t>Prime Copilot with sample code</a:t>
            </a:r>
          </a:p>
          <a:p>
            <a:r>
              <a:rPr lang="en-US" dirty="0">
                <a:solidFill>
                  <a:schemeClr val="bg1"/>
                </a:solidFill>
              </a:rPr>
              <a:t>Be consistent and keep the quality bar high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989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IN" dirty="0">
                <a:solidFill>
                  <a:srgbClr val="00B050"/>
                </a:solidFill>
              </a:rPr>
              <a:t>Best Practices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45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Get the most out of GitHub Copilot Chat</a:t>
            </a:r>
          </a:p>
          <a:p>
            <a:r>
              <a:rPr lang="en-US" b="1" dirty="0">
                <a:solidFill>
                  <a:schemeClr val="bg1"/>
                </a:solidFill>
              </a:rPr>
              <a:t>Start general, then get specific</a:t>
            </a:r>
          </a:p>
          <a:p>
            <a:r>
              <a:rPr lang="en-IN" b="1" dirty="0">
                <a:solidFill>
                  <a:schemeClr val="bg1"/>
                </a:solidFill>
              </a:rPr>
              <a:t>Give examples</a:t>
            </a:r>
          </a:p>
          <a:p>
            <a:r>
              <a:rPr lang="en-US" b="1" dirty="0">
                <a:solidFill>
                  <a:schemeClr val="bg1"/>
                </a:solidFill>
              </a:rPr>
              <a:t>Break complex tasks into simpler tasks</a:t>
            </a:r>
          </a:p>
          <a:p>
            <a:r>
              <a:rPr lang="en-IN" b="1" dirty="0">
                <a:solidFill>
                  <a:schemeClr val="bg1"/>
                </a:solidFill>
              </a:rPr>
              <a:t>Avoid ambiguity</a:t>
            </a:r>
          </a:p>
          <a:p>
            <a:r>
              <a:rPr lang="en-IN" b="1" dirty="0">
                <a:solidFill>
                  <a:schemeClr val="bg1"/>
                </a:solidFill>
              </a:rPr>
              <a:t>Indicate relevant code</a:t>
            </a:r>
          </a:p>
          <a:p>
            <a:r>
              <a:rPr lang="en-US" b="1" dirty="0">
                <a:solidFill>
                  <a:schemeClr val="bg1"/>
                </a:solidFill>
              </a:rPr>
              <a:t>Use chat participants, slash commands, and chat variables</a:t>
            </a:r>
          </a:p>
          <a:p>
            <a:r>
              <a:rPr lang="en-IN" b="1" dirty="0">
                <a:solidFill>
                  <a:schemeClr val="bg1"/>
                </a:solidFill>
              </a:rPr>
              <a:t>Experiment and iterate</a:t>
            </a:r>
          </a:p>
          <a:p>
            <a:r>
              <a:rPr lang="en-IN" b="1" dirty="0">
                <a:solidFill>
                  <a:schemeClr val="bg1"/>
                </a:solidFill>
              </a:rPr>
              <a:t>Keep history relevant</a:t>
            </a:r>
          </a:p>
          <a:p>
            <a:r>
              <a:rPr lang="en-IN" b="1" dirty="0">
                <a:solidFill>
                  <a:schemeClr val="bg1"/>
                </a:solidFill>
              </a:rPr>
              <a:t>Follow good coding practices</a:t>
            </a:r>
          </a:p>
          <a:p>
            <a:endParaRPr lang="en-I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241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Copilot context limit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Copilot context limit </a:t>
            </a:r>
            <a:r>
              <a:rPr lang="en-US" dirty="0" smtClean="0">
                <a:solidFill>
                  <a:schemeClr val="bg1"/>
                </a:solidFill>
              </a:rPr>
              <a:t>- what </a:t>
            </a:r>
            <a:r>
              <a:rPr lang="en-US" dirty="0">
                <a:solidFill>
                  <a:schemeClr val="bg1"/>
                </a:solidFill>
              </a:rPr>
              <a:t>it means for you</a:t>
            </a:r>
            <a:r>
              <a:rPr lang="en-US" dirty="0" smtClean="0">
                <a:solidFill>
                  <a:schemeClr val="bg1"/>
                </a:solidFill>
              </a:rPr>
              <a:t>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 depicts the Copilot limitations.</a:t>
            </a:r>
          </a:p>
          <a:p>
            <a:r>
              <a:rPr lang="en-US" dirty="0">
                <a:solidFill>
                  <a:schemeClr val="bg1"/>
                </a:solidFill>
              </a:rPr>
              <a:t>It basically represents the data it </a:t>
            </a:r>
            <a:r>
              <a:rPr lang="en-US" dirty="0" smtClean="0">
                <a:solidFill>
                  <a:schemeClr val="bg1"/>
                </a:solidFill>
              </a:rPr>
              <a:t>can </a:t>
            </a:r>
            <a:r>
              <a:rPr lang="en-US" dirty="0">
                <a:solidFill>
                  <a:schemeClr val="bg1"/>
                </a:solidFill>
              </a:rPr>
              <a:t>receive and return back in one request.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Poor </a:t>
            </a:r>
            <a:r>
              <a:rPr lang="en-US" dirty="0">
                <a:solidFill>
                  <a:schemeClr val="bg1"/>
                </a:solidFill>
              </a:rPr>
              <a:t>performance on large requests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Refactoring </a:t>
            </a:r>
            <a:r>
              <a:rPr lang="en-US" dirty="0">
                <a:solidFill>
                  <a:schemeClr val="bg1"/>
                </a:solidFill>
              </a:rPr>
              <a:t>-not possible</a:t>
            </a:r>
          </a:p>
          <a:p>
            <a:pPr lvl="2"/>
            <a:r>
              <a:rPr lang="en-US" dirty="0" smtClean="0">
                <a:solidFill>
                  <a:srgbClr val="FFC000"/>
                </a:solidFill>
              </a:rPr>
              <a:t>Better </a:t>
            </a:r>
            <a:r>
              <a:rPr lang="en-US" dirty="0">
                <a:solidFill>
                  <a:srgbClr val="FFC000"/>
                </a:solidFill>
              </a:rPr>
              <a:t>use the IDE refactoring capability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Error </a:t>
            </a:r>
            <a:r>
              <a:rPr lang="en-US" dirty="0">
                <a:solidFill>
                  <a:schemeClr val="bg1"/>
                </a:solidFill>
              </a:rPr>
              <a:t>search inside workspace - not possible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Tasks </a:t>
            </a:r>
            <a:r>
              <a:rPr lang="en-US" dirty="0">
                <a:solidFill>
                  <a:schemeClr val="bg1"/>
                </a:solidFill>
              </a:rPr>
              <a:t>for copilot should be as small as possible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749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Copilot context limit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Websites:</a:t>
            </a:r>
          </a:p>
          <a:p>
            <a:pPr lvl="1"/>
            <a:r>
              <a:rPr lang="en-IN" dirty="0" err="1" smtClean="0">
                <a:solidFill>
                  <a:schemeClr val="bg1"/>
                </a:solidFill>
              </a:rPr>
              <a:t>OpenAi</a:t>
            </a:r>
            <a:r>
              <a:rPr lang="en-IN" dirty="0" smtClean="0">
                <a:solidFill>
                  <a:schemeClr val="bg1"/>
                </a:solidFill>
              </a:rPr>
              <a:t> Tokenizer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AI Analysis LLM Performance leaderboard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568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Generate code using GitHub Copilot </a:t>
            </a:r>
            <a:r>
              <a:rPr lang="en-US" b="1" dirty="0" smtClean="0">
                <a:solidFill>
                  <a:srgbClr val="00B050"/>
                </a:solidFill>
              </a:rPr>
              <a:t>Chat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Chat View</a:t>
            </a:r>
            <a:r>
              <a:rPr lang="en-US" dirty="0">
                <a:solidFill>
                  <a:schemeClr val="bg1"/>
                </a:solidFill>
              </a:rPr>
              <a:t> provides an AI assistant that's available to help you at any time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b="1" dirty="0">
                <a:solidFill>
                  <a:srgbClr val="FFC000"/>
                </a:solidFill>
              </a:rPr>
              <a:t>Inline Chat</a:t>
            </a:r>
            <a:r>
              <a:rPr lang="en-US" dirty="0">
                <a:solidFill>
                  <a:schemeClr val="bg1"/>
                </a:solidFill>
              </a:rPr>
              <a:t> interface opens directly in the editor for contextual interactions while you're coding.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316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Generate code using the Chat </a:t>
            </a:r>
            <a:r>
              <a:rPr lang="en-US" b="1" dirty="0" smtClean="0">
                <a:solidFill>
                  <a:srgbClr val="00B050"/>
                </a:solidFill>
              </a:rPr>
              <a:t>view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The Chat View supports three modes: 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rgbClr val="FFC000"/>
                </a:solidFill>
              </a:rPr>
              <a:t>Ask</a:t>
            </a:r>
            <a:r>
              <a:rPr lang="en-US" dirty="0">
                <a:solidFill>
                  <a:srgbClr val="FFC000"/>
                </a:solidFill>
              </a:rPr>
              <a:t> </a:t>
            </a:r>
            <a:endParaRPr lang="en-US" dirty="0" smtClean="0">
              <a:solidFill>
                <a:srgbClr val="FFC000"/>
              </a:solidFill>
            </a:endParaRPr>
          </a:p>
          <a:p>
            <a:r>
              <a:rPr lang="en-US" b="1" dirty="0" smtClean="0">
                <a:solidFill>
                  <a:srgbClr val="FFC000"/>
                </a:solidFill>
              </a:rPr>
              <a:t>Plan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rgbClr val="FFC000"/>
                </a:solidFill>
              </a:rPr>
              <a:t>Agent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58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B050"/>
                </a:solidFill>
              </a:rPr>
              <a:t>Ask mode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Use ask mode to generate </a:t>
            </a:r>
            <a:r>
              <a:rPr lang="en-US" b="1" dirty="0" smtClean="0">
                <a:solidFill>
                  <a:srgbClr val="FFC000"/>
                </a:solidFill>
              </a:rPr>
              <a:t>code:</a:t>
            </a:r>
            <a:endParaRPr lang="en-US" b="1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When you want to </a:t>
            </a:r>
            <a:r>
              <a:rPr lang="en-US" b="1" dirty="0">
                <a:solidFill>
                  <a:schemeClr val="bg1"/>
                </a:solidFill>
              </a:rPr>
              <a:t>ask questions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b="1" dirty="0">
                <a:solidFill>
                  <a:schemeClr val="bg1"/>
                </a:solidFill>
              </a:rPr>
              <a:t>generate code snippets</a:t>
            </a:r>
            <a:r>
              <a:rPr lang="en-US" dirty="0">
                <a:solidFill>
                  <a:schemeClr val="bg1"/>
                </a:solidFill>
              </a:rPr>
              <a:t>, or get </a:t>
            </a:r>
            <a:r>
              <a:rPr lang="en-US" b="1" dirty="0">
                <a:solidFill>
                  <a:schemeClr val="bg1"/>
                </a:solidFill>
              </a:rPr>
              <a:t>explanations</a:t>
            </a:r>
            <a:r>
              <a:rPr lang="en-US" dirty="0">
                <a:solidFill>
                  <a:schemeClr val="bg1"/>
                </a:solidFill>
              </a:rPr>
              <a:t> in natural language.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Best For:</a:t>
            </a:r>
          </a:p>
          <a:p>
            <a:r>
              <a:rPr lang="en-US" dirty="0">
                <a:solidFill>
                  <a:schemeClr val="bg1"/>
                </a:solidFill>
              </a:rPr>
              <a:t>“How do I write a sorting algorithm in C#?”</a:t>
            </a:r>
          </a:p>
          <a:p>
            <a:r>
              <a:rPr lang="en-US" dirty="0">
                <a:solidFill>
                  <a:schemeClr val="bg1"/>
                </a:solidFill>
              </a:rPr>
              <a:t>“Explain this regex: ^[a-zA-Z0-9]+$.”</a:t>
            </a:r>
          </a:p>
          <a:p>
            <a:r>
              <a:rPr lang="en-US" dirty="0">
                <a:solidFill>
                  <a:schemeClr val="bg1"/>
                </a:solidFill>
              </a:rPr>
              <a:t>“Generate a unit test for this method.”</a:t>
            </a:r>
          </a:p>
          <a:p>
            <a:r>
              <a:rPr lang="en-US" dirty="0">
                <a:solidFill>
                  <a:schemeClr val="bg1"/>
                </a:solidFill>
              </a:rPr>
              <a:t>“What’s the difference between </a:t>
            </a:r>
            <a:r>
              <a:rPr lang="en-US" dirty="0" err="1">
                <a:solidFill>
                  <a:schemeClr val="bg1"/>
                </a:solidFill>
              </a:rPr>
              <a:t>async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dirty="0" err="1">
                <a:solidFill>
                  <a:schemeClr val="bg1"/>
                </a:solidFill>
              </a:rPr>
              <a:t>Task.Run</a:t>
            </a:r>
            <a:r>
              <a:rPr lang="en-US" dirty="0">
                <a:solidFill>
                  <a:schemeClr val="bg1"/>
                </a:solidFill>
              </a:rPr>
              <a:t>()?”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628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Plan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FFC000"/>
                </a:solidFill>
              </a:rPr>
              <a:t>Steps:</a:t>
            </a:r>
            <a:endParaRPr lang="en-US" b="1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Use Plan Mode to break down </a:t>
            </a:r>
            <a:r>
              <a:rPr lang="en-US" dirty="0" smtClean="0">
                <a:solidFill>
                  <a:schemeClr val="bg1"/>
                </a:solidFill>
              </a:rPr>
              <a:t>requirements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Convert </a:t>
            </a:r>
            <a:r>
              <a:rPr lang="en-US" dirty="0">
                <a:solidFill>
                  <a:schemeClr val="bg1"/>
                </a:solidFill>
              </a:rPr>
              <a:t>requirements → user stories → tasks → </a:t>
            </a:r>
            <a:r>
              <a:rPr lang="en-US" dirty="0" smtClean="0">
                <a:solidFill>
                  <a:schemeClr val="bg1"/>
                </a:solidFill>
              </a:rPr>
              <a:t>architecture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Then </a:t>
            </a:r>
            <a:r>
              <a:rPr lang="en-US" dirty="0">
                <a:solidFill>
                  <a:schemeClr val="bg1"/>
                </a:solidFill>
              </a:rPr>
              <a:t>move to code generation.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69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IN" dirty="0" smtClean="0">
                <a:solidFill>
                  <a:srgbClr val="00B050"/>
                </a:solidFill>
              </a:rPr>
              <a:t>Agent mode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7260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Use agent mode to generate code</a:t>
            </a:r>
          </a:p>
          <a:p>
            <a:r>
              <a:rPr lang="en-US" dirty="0">
                <a:solidFill>
                  <a:schemeClr val="bg1"/>
                </a:solidFill>
              </a:rPr>
              <a:t>This is a </a:t>
            </a:r>
            <a:r>
              <a:rPr lang="en-US" b="1" dirty="0">
                <a:solidFill>
                  <a:schemeClr val="bg1"/>
                </a:solidFill>
              </a:rPr>
              <a:t>task-oriented assistant</a:t>
            </a:r>
            <a:r>
              <a:rPr lang="en-US" dirty="0">
                <a:solidFill>
                  <a:schemeClr val="bg1"/>
                </a:solidFill>
              </a:rPr>
              <a:t>—a higher-level automation tool that understands your repo context, opens files, modifies multiple areas, and even runs terminal commands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Use Case:</a:t>
            </a:r>
          </a:p>
          <a:p>
            <a:r>
              <a:rPr lang="en-US" dirty="0">
                <a:solidFill>
                  <a:schemeClr val="bg1"/>
                </a:solidFill>
              </a:rPr>
              <a:t>When you want Copilot to </a:t>
            </a:r>
            <a:r>
              <a:rPr lang="en-US" b="1" dirty="0">
                <a:solidFill>
                  <a:schemeClr val="bg1"/>
                </a:solidFill>
              </a:rPr>
              <a:t>perform complex tasks</a:t>
            </a:r>
            <a:r>
              <a:rPr lang="en-US" dirty="0">
                <a:solidFill>
                  <a:schemeClr val="bg1"/>
                </a:solidFill>
              </a:rPr>
              <a:t>, like implementing features, setting up tests, or editing multiple files across a repo.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C000"/>
                </a:solidFill>
              </a:rPr>
              <a:t>Best </a:t>
            </a:r>
            <a:r>
              <a:rPr lang="en-US" b="1" dirty="0">
                <a:solidFill>
                  <a:srgbClr val="FFC000"/>
                </a:solidFill>
              </a:rPr>
              <a:t>For:</a:t>
            </a:r>
          </a:p>
          <a:p>
            <a:r>
              <a:rPr lang="en-US" dirty="0">
                <a:solidFill>
                  <a:schemeClr val="bg1"/>
                </a:solidFill>
              </a:rPr>
              <a:t>“Add logging to all API methods.”</a:t>
            </a:r>
          </a:p>
          <a:p>
            <a:r>
              <a:rPr lang="en-US" dirty="0">
                <a:solidFill>
                  <a:schemeClr val="bg1"/>
                </a:solidFill>
              </a:rPr>
              <a:t>“Generate </a:t>
            </a:r>
            <a:r>
              <a:rPr lang="en-US" dirty="0" smtClean="0">
                <a:solidFill>
                  <a:schemeClr val="bg1"/>
                </a:solidFill>
              </a:rPr>
              <a:t>tests </a:t>
            </a:r>
            <a:r>
              <a:rPr lang="en-US" dirty="0">
                <a:solidFill>
                  <a:schemeClr val="bg1"/>
                </a:solidFill>
              </a:rPr>
              <a:t>for all services.”</a:t>
            </a:r>
          </a:p>
          <a:p>
            <a:r>
              <a:rPr lang="en-US" dirty="0">
                <a:solidFill>
                  <a:schemeClr val="bg1"/>
                </a:solidFill>
              </a:rPr>
              <a:t>“Create a new REST endpoint to return top-selling products.”</a:t>
            </a:r>
          </a:p>
          <a:p>
            <a:r>
              <a:rPr lang="en-US" dirty="0">
                <a:solidFill>
                  <a:schemeClr val="bg1"/>
                </a:solidFill>
              </a:rPr>
              <a:t>“Add </a:t>
            </a:r>
            <a:r>
              <a:rPr lang="en-US" dirty="0" err="1">
                <a:solidFill>
                  <a:schemeClr val="bg1"/>
                </a:solidFill>
              </a:rPr>
              <a:t>Serilog</a:t>
            </a:r>
            <a:r>
              <a:rPr lang="en-US" dirty="0">
                <a:solidFill>
                  <a:schemeClr val="bg1"/>
                </a:solidFill>
              </a:rPr>
              <a:t> setup and update configuration files.”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142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B050"/>
                </a:solidFill>
              </a:rPr>
              <a:t>Inline chat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FFC000"/>
                </a:solidFill>
              </a:rPr>
              <a:t>Generate code using an inline chat session</a:t>
            </a:r>
          </a:p>
          <a:p>
            <a:r>
              <a:rPr lang="en-US" dirty="0">
                <a:solidFill>
                  <a:schemeClr val="bg1"/>
                </a:solidFill>
              </a:rPr>
              <a:t>Inline chat session can be used to analyze and generate code.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bg1"/>
                </a:solidFill>
              </a:rPr>
              <a:t>inline chat interface is only accessible when a file is open in the code editor.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It </a:t>
            </a:r>
            <a:r>
              <a:rPr lang="en-US" dirty="0">
                <a:solidFill>
                  <a:schemeClr val="bg1"/>
                </a:solidFill>
              </a:rPr>
              <a:t>can be used to analyze selected code or create new code based on a prompt.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288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92896"/>
            <a:ext cx="8229600" cy="1143000"/>
          </a:xfrm>
        </p:spPr>
        <p:txBody>
          <a:bodyPr/>
          <a:lstStyle/>
          <a:p>
            <a:r>
              <a:rPr lang="en-IN" b="1" dirty="0" smtClean="0">
                <a:solidFill>
                  <a:schemeClr val="bg1"/>
                </a:solidFill>
              </a:rPr>
              <a:t>REFACTORING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89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Common code refactoring </a:t>
            </a:r>
            <a:r>
              <a:rPr lang="en-IN" b="1" dirty="0" smtClean="0">
                <a:solidFill>
                  <a:srgbClr val="00B050"/>
                </a:solidFill>
              </a:rPr>
              <a:t>scenarios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The following list includes some common scenarios for refactoring code</a:t>
            </a:r>
            <a:r>
              <a:rPr lang="en-US" dirty="0" smtClean="0">
                <a:solidFill>
                  <a:srgbClr val="FFC000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Optimizing inefficient code</a:t>
            </a:r>
          </a:p>
          <a:p>
            <a:r>
              <a:rPr lang="en-US" dirty="0">
                <a:solidFill>
                  <a:schemeClr val="bg1"/>
                </a:solidFill>
              </a:rPr>
              <a:t>Cleaning up repeated code</a:t>
            </a:r>
          </a:p>
          <a:p>
            <a:r>
              <a:rPr lang="en-US" dirty="0">
                <a:solidFill>
                  <a:schemeClr val="bg1"/>
                </a:solidFill>
              </a:rPr>
              <a:t>Making code more concise</a:t>
            </a:r>
          </a:p>
          <a:p>
            <a:r>
              <a:rPr lang="en-US" dirty="0">
                <a:solidFill>
                  <a:schemeClr val="bg1"/>
                </a:solidFill>
              </a:rPr>
              <a:t>Splitting up complex units of code</a:t>
            </a:r>
          </a:p>
          <a:p>
            <a:r>
              <a:rPr lang="en-US" dirty="0">
                <a:solidFill>
                  <a:schemeClr val="bg1"/>
                </a:solidFill>
              </a:rPr>
              <a:t>Rewriting conditional code for better readability</a:t>
            </a:r>
          </a:p>
          <a:p>
            <a:r>
              <a:rPr lang="en-US" dirty="0">
                <a:solidFill>
                  <a:schemeClr val="bg1"/>
                </a:solidFill>
              </a:rPr>
              <a:t>Reformatting code to use a different structure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753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Use GitHub Copilot to optimize inefficient </a:t>
            </a:r>
            <a:r>
              <a:rPr lang="en-US" b="1" dirty="0" smtClean="0">
                <a:solidFill>
                  <a:srgbClr val="00B050"/>
                </a:solidFill>
              </a:rPr>
              <a:t>code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Use Inline Chat to refactor code</a:t>
            </a:r>
          </a:p>
          <a:p>
            <a:r>
              <a:rPr lang="en-US" b="1" dirty="0">
                <a:solidFill>
                  <a:schemeClr val="bg1"/>
                </a:solidFill>
              </a:rPr>
              <a:t>Refactor code using GitHub Copilot Chat modes</a:t>
            </a:r>
          </a:p>
          <a:p>
            <a:pPr lvl="1"/>
            <a:r>
              <a:rPr lang="en-IN" dirty="0" smtClean="0">
                <a:solidFill>
                  <a:srgbClr val="FFC000"/>
                </a:solidFill>
              </a:rPr>
              <a:t>Ask mode</a:t>
            </a:r>
          </a:p>
          <a:p>
            <a:pPr lvl="1"/>
            <a:r>
              <a:rPr lang="en-IN" dirty="0" smtClean="0">
                <a:solidFill>
                  <a:srgbClr val="FFC000"/>
                </a:solidFill>
              </a:rPr>
              <a:t>Agent mode</a:t>
            </a:r>
          </a:p>
          <a:p>
            <a:r>
              <a:rPr lang="en-US" b="1" dirty="0">
                <a:solidFill>
                  <a:schemeClr val="bg1"/>
                </a:solidFill>
              </a:rPr>
              <a:t>Refactor code using inline chat and the Chat view in </a:t>
            </a:r>
            <a:r>
              <a:rPr lang="en-US" b="1" dirty="0" smtClean="0">
                <a:solidFill>
                  <a:schemeClr val="bg1"/>
                </a:solidFill>
              </a:rPr>
              <a:t>Agent </a:t>
            </a:r>
            <a:r>
              <a:rPr lang="en-US" b="1" dirty="0">
                <a:solidFill>
                  <a:schemeClr val="bg1"/>
                </a:solidFill>
              </a:rPr>
              <a:t>modes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15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92896"/>
            <a:ext cx="8229600" cy="1143000"/>
          </a:xfrm>
        </p:spPr>
        <p:txBody>
          <a:bodyPr/>
          <a:lstStyle/>
          <a:p>
            <a:r>
              <a:rPr lang="en-IN" b="1" dirty="0" smtClean="0">
                <a:solidFill>
                  <a:schemeClr val="bg1"/>
                </a:solidFill>
              </a:rPr>
              <a:t>TESTING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01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GitHub Copilot support for unit </a:t>
            </a:r>
            <a:r>
              <a:rPr lang="en-US" b="1" dirty="0" smtClean="0">
                <a:solidFill>
                  <a:srgbClr val="00B050"/>
                </a:solidFill>
              </a:rPr>
              <a:t>testing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GitHub Copilot Chat can be used to suggest unit tests based on the code you specify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It also helps you write test cases for edge cases and boundary conditions that might be difficult to identify manually.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For </a:t>
            </a:r>
            <a:r>
              <a:rPr lang="en-US" dirty="0">
                <a:solidFill>
                  <a:schemeClr val="bg1"/>
                </a:solidFill>
              </a:rPr>
              <a:t>example, GitHub Copilot Chat can suggest test cases for error handling, null values, or unexpected input types.</a:t>
            </a:r>
            <a:endParaRPr lang="en-US" dirty="0" smtClean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rgbClr val="FFC000"/>
                </a:solidFill>
              </a:rPr>
              <a:t>Generated test cases may not cover all possible scenarios. Manual testing and code reviews are necessary to ensure the quality of your code</a:t>
            </a:r>
            <a:endParaRPr lang="en-IN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45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GitHub Copilot support for unit </a:t>
            </a:r>
            <a:r>
              <a:rPr lang="en-US" b="1" dirty="0" smtClean="0">
                <a:solidFill>
                  <a:srgbClr val="00B050"/>
                </a:solidFill>
              </a:rPr>
              <a:t>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Copilot can help with the following testing tasks:</a:t>
            </a:r>
          </a:p>
          <a:p>
            <a:r>
              <a:rPr lang="en-US" dirty="0">
                <a:solidFill>
                  <a:srgbClr val="FFC000"/>
                </a:solidFill>
              </a:rPr>
              <a:t>Set up testing frameworks: </a:t>
            </a:r>
            <a:r>
              <a:rPr lang="en-US" dirty="0">
                <a:solidFill>
                  <a:schemeClr val="bg1"/>
                </a:solidFill>
              </a:rPr>
              <a:t>get help configuring the right testing framework and VS Code extensions for your project and language.</a:t>
            </a:r>
          </a:p>
          <a:p>
            <a:r>
              <a:rPr lang="en-US" dirty="0">
                <a:solidFill>
                  <a:srgbClr val="FFC000"/>
                </a:solidFill>
              </a:rPr>
              <a:t>Generate test code: </a:t>
            </a:r>
            <a:r>
              <a:rPr lang="en-US" dirty="0">
                <a:solidFill>
                  <a:schemeClr val="bg1"/>
                </a:solidFill>
              </a:rPr>
              <a:t>create unit tests, integration tests, and end-to-end tests that cover your application code.</a:t>
            </a:r>
          </a:p>
          <a:p>
            <a:r>
              <a:rPr lang="en-US" dirty="0">
                <a:solidFill>
                  <a:srgbClr val="FFC000"/>
                </a:solidFill>
              </a:rPr>
              <a:t>Handle edge cases: </a:t>
            </a:r>
            <a:r>
              <a:rPr lang="en-US" dirty="0">
                <a:solidFill>
                  <a:schemeClr val="bg1"/>
                </a:solidFill>
              </a:rPr>
              <a:t>generate comprehensive test suites to cover edge cases and error conditions.</a:t>
            </a:r>
          </a:p>
          <a:p>
            <a:r>
              <a:rPr lang="en-US" dirty="0">
                <a:solidFill>
                  <a:srgbClr val="FFC000"/>
                </a:solidFill>
              </a:rPr>
              <a:t>Fix failing tests: </a:t>
            </a:r>
            <a:r>
              <a:rPr lang="en-US" dirty="0">
                <a:solidFill>
                  <a:schemeClr val="bg1"/>
                </a:solidFill>
              </a:rPr>
              <a:t>receive suggestions for fixing test failures.</a:t>
            </a:r>
          </a:p>
          <a:p>
            <a:r>
              <a:rPr lang="en-US" dirty="0">
                <a:solidFill>
                  <a:srgbClr val="FFC000"/>
                </a:solidFill>
              </a:rPr>
              <a:t>Maintain consistency: </a:t>
            </a:r>
            <a:r>
              <a:rPr lang="en-US" dirty="0">
                <a:solidFill>
                  <a:schemeClr val="bg1"/>
                </a:solidFill>
              </a:rPr>
              <a:t>personalize Copilot to generate tests that follow your project's coding practices.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65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Set up your testing </a:t>
            </a:r>
            <a:r>
              <a:rPr lang="en-US" b="1" dirty="0" smtClean="0">
                <a:solidFill>
                  <a:srgbClr val="00B050"/>
                </a:solidFill>
              </a:rPr>
              <a:t>framework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Copilot </a:t>
            </a:r>
            <a:r>
              <a:rPr lang="en-US" dirty="0">
                <a:solidFill>
                  <a:schemeClr val="bg1"/>
                </a:solidFill>
              </a:rPr>
              <a:t>can help set up the testing framework and VS Code extensions for your project. Copilot suggests appropriate testing frameworks based on your project type.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Open the Chat view.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Enter the </a:t>
            </a:r>
            <a:r>
              <a:rPr lang="en-US" dirty="0">
                <a:solidFill>
                  <a:srgbClr val="FFC000"/>
                </a:solidFill>
              </a:rPr>
              <a:t>/</a:t>
            </a:r>
            <a:r>
              <a:rPr lang="en-US" dirty="0" err="1">
                <a:solidFill>
                  <a:srgbClr val="FFC000"/>
                </a:solidFill>
              </a:rPr>
              <a:t>setupTests</a:t>
            </a:r>
            <a:r>
              <a:rPr lang="en-US" dirty="0">
                <a:solidFill>
                  <a:schemeClr val="bg1"/>
                </a:solidFill>
              </a:rPr>
              <a:t> command in the chat input field.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Follow GitHub Copilot's guidance to configure your project.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00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Write unit tests with GitHub </a:t>
            </a:r>
            <a:r>
              <a:rPr lang="en-US" b="1" dirty="0" smtClean="0">
                <a:solidFill>
                  <a:srgbClr val="00B050"/>
                </a:solidFill>
              </a:rPr>
              <a:t>Copilot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2453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You can generate unit tests using the following GitHub Copilot tools:</a:t>
            </a:r>
          </a:p>
          <a:p>
            <a:r>
              <a:rPr lang="en-US" b="1" dirty="0">
                <a:solidFill>
                  <a:srgbClr val="FFC000"/>
                </a:solidFill>
              </a:rPr>
              <a:t>Chat view</a:t>
            </a:r>
            <a:r>
              <a:rPr lang="en-US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bg1"/>
                </a:solidFill>
              </a:rPr>
              <a:t>Use the Chat view generate unit tests for a project, class, or method using Ask, Edit, or Agent mode.</a:t>
            </a:r>
          </a:p>
          <a:p>
            <a:r>
              <a:rPr lang="en-US" b="1" dirty="0">
                <a:solidFill>
                  <a:srgbClr val="FFC000"/>
                </a:solidFill>
              </a:rPr>
              <a:t>Inline Chat</a:t>
            </a:r>
            <a:r>
              <a:rPr lang="en-US" dirty="0">
                <a:solidFill>
                  <a:srgbClr val="FFC000"/>
                </a:solidFill>
              </a:rPr>
              <a:t>: </a:t>
            </a:r>
            <a:r>
              <a:rPr lang="en-US" dirty="0">
                <a:solidFill>
                  <a:schemeClr val="bg1"/>
                </a:solidFill>
              </a:rPr>
              <a:t>Use Inline Chat to generate unit tests for selected classes or methods.</a:t>
            </a:r>
          </a:p>
          <a:p>
            <a:r>
              <a:rPr lang="en-US" b="1" dirty="0" smtClean="0">
                <a:solidFill>
                  <a:srgbClr val="FFC000"/>
                </a:solidFill>
              </a:rPr>
              <a:t>Code </a:t>
            </a:r>
            <a:r>
              <a:rPr lang="en-US" b="1" dirty="0">
                <a:solidFill>
                  <a:srgbClr val="FFC000"/>
                </a:solidFill>
              </a:rPr>
              <a:t>line completions</a:t>
            </a:r>
            <a:r>
              <a:rPr lang="en-US" dirty="0">
                <a:solidFill>
                  <a:srgbClr val="FFC000"/>
                </a:solidFill>
              </a:rPr>
              <a:t>:</a:t>
            </a:r>
            <a:r>
              <a:rPr lang="en-US" dirty="0">
                <a:solidFill>
                  <a:schemeClr val="bg1"/>
                </a:solidFill>
              </a:rPr>
              <a:t> Use code line completions to suggest addition unit tests for an existing test case.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51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Fix failing </a:t>
            </a:r>
            <a:r>
              <a:rPr lang="en-IN" b="1" dirty="0" smtClean="0">
                <a:solidFill>
                  <a:srgbClr val="00B050"/>
                </a:solidFill>
              </a:rPr>
              <a:t>tests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1256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Copilot integrates with the Test Explorer in Visual Studio Code and can help with fixing failing tests.</a:t>
            </a:r>
          </a:p>
          <a:p>
            <a:r>
              <a:rPr lang="en-US" dirty="0">
                <a:solidFill>
                  <a:schemeClr val="bg1"/>
                </a:solidFill>
              </a:rPr>
              <a:t>In the Test Explorer, hover over a failing test.</a:t>
            </a:r>
          </a:p>
          <a:p>
            <a:r>
              <a:rPr lang="en-US" dirty="0">
                <a:solidFill>
                  <a:schemeClr val="bg1"/>
                </a:solidFill>
              </a:rPr>
              <a:t>Select the </a:t>
            </a:r>
            <a:r>
              <a:rPr lang="en-US" b="1" dirty="0">
                <a:solidFill>
                  <a:schemeClr val="bg1"/>
                </a:solidFill>
              </a:rPr>
              <a:t>Fix Test Failure</a:t>
            </a:r>
            <a:r>
              <a:rPr lang="en-US" dirty="0">
                <a:solidFill>
                  <a:schemeClr val="bg1"/>
                </a:solidFill>
              </a:rPr>
              <a:t> button (sparkle icon)</a:t>
            </a:r>
          </a:p>
          <a:p>
            <a:r>
              <a:rPr lang="en-US" dirty="0">
                <a:solidFill>
                  <a:schemeClr val="bg1"/>
                </a:solidFill>
              </a:rPr>
              <a:t>Review and apply Copilot's suggested fix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Alternatively, you can:</a:t>
            </a:r>
          </a:p>
          <a:p>
            <a:r>
              <a:rPr lang="en-US" dirty="0">
                <a:solidFill>
                  <a:schemeClr val="bg1"/>
                </a:solidFill>
              </a:rPr>
              <a:t>Open the Chat view.</a:t>
            </a:r>
          </a:p>
          <a:p>
            <a:r>
              <a:rPr lang="en-US" dirty="0">
                <a:solidFill>
                  <a:schemeClr val="bg1"/>
                </a:solidFill>
              </a:rPr>
              <a:t>Enter the </a:t>
            </a:r>
            <a:r>
              <a:rPr lang="en-US" dirty="0">
                <a:solidFill>
                  <a:srgbClr val="FFC000"/>
                </a:solidFill>
              </a:rPr>
              <a:t>/</a:t>
            </a:r>
            <a:r>
              <a:rPr lang="en-US" dirty="0" err="1">
                <a:solidFill>
                  <a:srgbClr val="FFC000"/>
                </a:solidFill>
              </a:rPr>
              <a:t>fixTestFailure</a:t>
            </a:r>
            <a:r>
              <a:rPr lang="en-US" dirty="0">
                <a:solidFill>
                  <a:schemeClr val="bg1"/>
                </a:solidFill>
              </a:rPr>
              <a:t> slash command.</a:t>
            </a:r>
          </a:p>
          <a:p>
            <a:r>
              <a:rPr lang="en-US" dirty="0">
                <a:solidFill>
                  <a:schemeClr val="bg1"/>
                </a:solidFill>
              </a:rPr>
              <a:t>Follow Copilot's suggestions to fix the </a:t>
            </a:r>
            <a:r>
              <a:rPr lang="en-US" dirty="0" smtClean="0">
                <a:solidFill>
                  <a:schemeClr val="bg1"/>
                </a:solidFill>
              </a:rPr>
              <a:t>test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“Agent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 monitors the test output when running tests, and automatically attempts to fix and rerun failing tests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.”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535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2878</TotalTime>
  <Words>1269</Words>
  <Application>Microsoft Office PowerPoint</Application>
  <PresentationFormat>On-screen Show (4:3)</PresentationFormat>
  <Paragraphs>157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How to improve GitHub Copilot Chat responses</vt:lpstr>
      <vt:lpstr>Copilot Agents</vt:lpstr>
      <vt:lpstr>Code Development features of GitHub Copilot</vt:lpstr>
      <vt:lpstr>Examine GitHub Copilot best practices</vt:lpstr>
      <vt:lpstr>Best Practices</vt:lpstr>
      <vt:lpstr>Best Practices</vt:lpstr>
      <vt:lpstr>Best Practices</vt:lpstr>
      <vt:lpstr>Best Practices</vt:lpstr>
      <vt:lpstr>Copilot context limit</vt:lpstr>
      <vt:lpstr>Copilot context limit</vt:lpstr>
      <vt:lpstr>Generate code using GitHub Copilot Chat</vt:lpstr>
      <vt:lpstr>Generate code using the Chat view</vt:lpstr>
      <vt:lpstr>Ask mode</vt:lpstr>
      <vt:lpstr>Plan mode</vt:lpstr>
      <vt:lpstr>Agent mode</vt:lpstr>
      <vt:lpstr>Inline chat</vt:lpstr>
      <vt:lpstr>REFACTORING</vt:lpstr>
      <vt:lpstr>Common code refactoring scenarios</vt:lpstr>
      <vt:lpstr>Use GitHub Copilot to optimize inefficient code</vt:lpstr>
      <vt:lpstr>TESTING</vt:lpstr>
      <vt:lpstr>GitHub Copilot support for unit testing</vt:lpstr>
      <vt:lpstr>GitHub Copilot support for unit testing</vt:lpstr>
      <vt:lpstr>Set up your testing framework</vt:lpstr>
      <vt:lpstr>Write unit tests with GitHub Copilot</vt:lpstr>
      <vt:lpstr>Fix failing tests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Ramnath Nishad</dc:creator>
  <cp:lastModifiedBy>Ramnath Nishad</cp:lastModifiedBy>
  <cp:revision>76</cp:revision>
  <dcterms:created xsi:type="dcterms:W3CDTF">2025-07-05T03:07:48Z</dcterms:created>
  <dcterms:modified xsi:type="dcterms:W3CDTF">2026-05-05T07:04:22Z</dcterms:modified>
</cp:coreProperties>
</file>