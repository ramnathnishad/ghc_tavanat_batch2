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76" r:id="rId8"/>
    <p:sldId id="261" r:id="rId9"/>
    <p:sldId id="328" r:id="rId10"/>
    <p:sldId id="263" r:id="rId11"/>
    <p:sldId id="264" r:id="rId12"/>
    <p:sldId id="265" r:id="rId13"/>
    <p:sldId id="266" r:id="rId14"/>
    <p:sldId id="267" r:id="rId15"/>
    <p:sldId id="268" r:id="rId16"/>
    <p:sldId id="277" r:id="rId17"/>
    <p:sldId id="278" r:id="rId18"/>
    <p:sldId id="279" r:id="rId19"/>
    <p:sldId id="269" r:id="rId20"/>
    <p:sldId id="28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323"/>
    <a:srgbClr val="2A2A2A"/>
    <a:srgbClr val="212121"/>
    <a:srgbClr val="262626"/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61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58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83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81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7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66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41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31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53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374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78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TAVANT_Copilot\TOCs\GitHub Copilot for .NET\Day1\p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9668"/>
            <a:ext cx="7915275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490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 descr="D:\TAVANT_Copilot\TOCs\GitHub Copilot for .NET\Day1\p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60040"/>
            <a:ext cx="9144000" cy="587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1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D:\TAVANT_Copilot\TOCs\GitHub Copilot for .NET\Day1\p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404664"/>
            <a:ext cx="9080499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95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D:\TAVANT_Copilot\TOCs\GitHub Copilot for .NET\Day1\p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176" y="290016"/>
            <a:ext cx="9166176" cy="65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01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:\TAVANT_Copilot\TOCs\GitHub Copilot for .NET\Day1\p6.2_belo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79" y="1760587"/>
            <a:ext cx="7591425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7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TAVANT_Copilot\TOCs\GitHub Copilot for .NET\Day1\p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4" y="453727"/>
            <a:ext cx="9080500" cy="513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33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6672"/>
            <a:ext cx="8784976" cy="584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821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:\TAVANT_Copilot\TOCs\GitHub Copilot for .NET\Day1\p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361925"/>
            <a:ext cx="9080500" cy="486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38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solidFill>
                  <a:srgbClr val="00B050"/>
                </a:solidFill>
              </a:rPr>
              <a:t>6 </a:t>
            </a:r>
            <a:r>
              <a:rPr lang="en-IN" b="1" dirty="0">
                <a:solidFill>
                  <a:srgbClr val="00B050"/>
                </a:solidFill>
              </a:rPr>
              <a:t>principles of responsible </a:t>
            </a:r>
            <a:r>
              <a:rPr lang="en-IN" b="1" dirty="0" smtClean="0">
                <a:solidFill>
                  <a:srgbClr val="00B050"/>
                </a:solidFill>
              </a:rPr>
              <a:t>AI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Fairness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AI systems should treat all people fairly.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Reliability and safety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AI systems should perform reliably and safely.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Privacy and security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AI systems should be secure and respect privacy.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Inclusiveness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AI systems should empower everyone and engage people.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Transparency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AI systems should be understandable.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Accountability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People should be accountable for AI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282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Prompt engineering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Prompt Engineering?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Prompt </a:t>
            </a:r>
            <a:r>
              <a:rPr lang="en-US" dirty="0">
                <a:solidFill>
                  <a:schemeClr val="bg1"/>
                </a:solidFill>
              </a:rPr>
              <a:t>engineering </a:t>
            </a:r>
            <a:r>
              <a:rPr lang="en-US" dirty="0" smtClean="0">
                <a:solidFill>
                  <a:schemeClr val="bg1"/>
                </a:solidFill>
              </a:rPr>
              <a:t>principles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Best practices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66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What is prompt engineering</a:t>
            </a:r>
            <a:r>
              <a:rPr lang="en-US" dirty="0" smtClean="0">
                <a:solidFill>
                  <a:srgbClr val="00B050"/>
                </a:solidFill>
              </a:rPr>
              <a:t>?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Prompt </a:t>
            </a:r>
            <a:r>
              <a:rPr lang="en-US" dirty="0">
                <a:solidFill>
                  <a:schemeClr val="bg1"/>
                </a:solidFill>
              </a:rPr>
              <a:t>engineering is the process of crafting clear instructions to guide AI systems, like GitHub Copilot, to generate context-appropriate code tailored to your project's specific needs.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This </a:t>
            </a:r>
            <a:r>
              <a:rPr lang="en-US" dirty="0">
                <a:solidFill>
                  <a:schemeClr val="bg1"/>
                </a:solidFill>
              </a:rPr>
              <a:t>ensures the code is syntactically, functionally, and contextually correct.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28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Principles of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4 S rules of creating effective </a:t>
            </a:r>
            <a:r>
              <a:rPr lang="en-IN" dirty="0" smtClean="0">
                <a:solidFill>
                  <a:schemeClr val="bg1"/>
                </a:solidFill>
              </a:rPr>
              <a:t>prompts</a:t>
            </a:r>
          </a:p>
          <a:p>
            <a:r>
              <a:rPr lang="en-IN" dirty="0">
                <a:solidFill>
                  <a:schemeClr val="bg1"/>
                </a:solidFill>
              </a:rPr>
              <a:t>-</a:t>
            </a:r>
            <a:r>
              <a:rPr lang="en-IN" dirty="0" smtClean="0">
                <a:solidFill>
                  <a:schemeClr val="bg1"/>
                </a:solidFill>
              </a:rPr>
              <a:t>Single</a:t>
            </a:r>
          </a:p>
          <a:p>
            <a:r>
              <a:rPr lang="en-IN" dirty="0">
                <a:solidFill>
                  <a:schemeClr val="bg1"/>
                </a:solidFill>
              </a:rPr>
              <a:t>-</a:t>
            </a:r>
            <a:r>
              <a:rPr lang="en-IN" dirty="0" smtClean="0">
                <a:solidFill>
                  <a:schemeClr val="bg1"/>
                </a:solidFill>
              </a:rPr>
              <a:t>Specific</a:t>
            </a:r>
          </a:p>
          <a:p>
            <a:r>
              <a:rPr lang="en-IN" dirty="0">
                <a:solidFill>
                  <a:schemeClr val="bg1"/>
                </a:solidFill>
              </a:rPr>
              <a:t>-</a:t>
            </a:r>
            <a:r>
              <a:rPr lang="en-IN" dirty="0" smtClean="0">
                <a:solidFill>
                  <a:schemeClr val="bg1"/>
                </a:solidFill>
              </a:rPr>
              <a:t>Short</a:t>
            </a:r>
          </a:p>
          <a:p>
            <a:r>
              <a:rPr lang="en-IN" dirty="0">
                <a:solidFill>
                  <a:schemeClr val="bg1"/>
                </a:solidFill>
              </a:rPr>
              <a:t>-Surround</a:t>
            </a:r>
          </a:p>
        </p:txBody>
      </p:sp>
    </p:spTree>
    <p:extLst>
      <p:ext uri="{BB962C8B-B14F-4D97-AF65-F5344CB8AC3E}">
        <p14:creationId xmlns:p14="http://schemas.microsoft.com/office/powerpoint/2010/main" val="392498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Best practices in prompt engineering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1)Provide enough </a:t>
            </a:r>
            <a:r>
              <a:rPr lang="en-IN" dirty="0" smtClean="0">
                <a:solidFill>
                  <a:schemeClr val="bg1"/>
                </a:solidFill>
              </a:rPr>
              <a:t>clarity</a:t>
            </a:r>
          </a:p>
          <a:p>
            <a:r>
              <a:rPr lang="en-US" dirty="0">
                <a:solidFill>
                  <a:schemeClr val="bg1"/>
                </a:solidFill>
              </a:rPr>
              <a:t>2) Provide enough context with </a:t>
            </a:r>
            <a:r>
              <a:rPr lang="en-US" dirty="0" smtClean="0">
                <a:solidFill>
                  <a:schemeClr val="bg1"/>
                </a:solidFill>
              </a:rPr>
              <a:t>details</a:t>
            </a:r>
          </a:p>
          <a:p>
            <a:r>
              <a:rPr lang="en-US" dirty="0">
                <a:solidFill>
                  <a:schemeClr val="bg1"/>
                </a:solidFill>
              </a:rPr>
              <a:t>3) Provide examples for </a:t>
            </a:r>
            <a:r>
              <a:rPr lang="en-US" dirty="0" smtClean="0">
                <a:solidFill>
                  <a:schemeClr val="bg1"/>
                </a:solidFill>
              </a:rPr>
              <a:t>learning</a:t>
            </a:r>
          </a:p>
          <a:p>
            <a:r>
              <a:rPr lang="en-IN" dirty="0">
                <a:solidFill>
                  <a:schemeClr val="bg1"/>
                </a:solidFill>
              </a:rPr>
              <a:t>4) Assert and iterate</a:t>
            </a:r>
          </a:p>
        </p:txBody>
      </p:sp>
    </p:spTree>
    <p:extLst>
      <p:ext uri="{BB962C8B-B14F-4D97-AF65-F5344CB8AC3E}">
        <p14:creationId xmlns:p14="http://schemas.microsoft.com/office/powerpoint/2010/main" val="130120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How Copilot learns from your prompts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Zero-shot </a:t>
            </a:r>
            <a:r>
              <a:rPr lang="en-IN" dirty="0" smtClean="0">
                <a:solidFill>
                  <a:schemeClr val="bg1"/>
                </a:solidFill>
              </a:rPr>
              <a:t>learning</a:t>
            </a:r>
          </a:p>
          <a:p>
            <a:r>
              <a:rPr lang="en-IN" dirty="0">
                <a:solidFill>
                  <a:schemeClr val="bg1"/>
                </a:solidFill>
              </a:rPr>
              <a:t>One-shot </a:t>
            </a:r>
            <a:r>
              <a:rPr lang="en-IN" dirty="0" smtClean="0">
                <a:solidFill>
                  <a:schemeClr val="bg1"/>
                </a:solidFill>
              </a:rPr>
              <a:t>learning</a:t>
            </a:r>
          </a:p>
          <a:p>
            <a:r>
              <a:rPr lang="en-IN" dirty="0">
                <a:solidFill>
                  <a:schemeClr val="bg1"/>
                </a:solidFill>
              </a:rPr>
              <a:t>Few-shot </a:t>
            </a:r>
            <a:r>
              <a:rPr lang="en-IN" dirty="0" smtClean="0">
                <a:solidFill>
                  <a:schemeClr val="bg1"/>
                </a:solidFill>
              </a:rPr>
              <a:t>learning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127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GitHub Copilot user prompt process </a:t>
            </a:r>
            <a:r>
              <a:rPr lang="en-US" sz="3600" dirty="0" smtClean="0">
                <a:solidFill>
                  <a:srgbClr val="00B050"/>
                </a:solidFill>
              </a:rPr>
              <a:t>flow - INBOUND</a:t>
            </a:r>
            <a:endParaRPr lang="en-IN" sz="3600" dirty="0">
              <a:solidFill>
                <a:srgbClr val="00B05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600200"/>
            <a:ext cx="6000502" cy="4925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200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Proxy </a:t>
            </a:r>
            <a:r>
              <a:rPr lang="en-US" b="1" dirty="0" smtClean="0">
                <a:solidFill>
                  <a:srgbClr val="00B050"/>
                </a:solidFill>
              </a:rPr>
              <a:t>filter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Once </a:t>
            </a:r>
            <a:r>
              <a:rPr lang="en-US" dirty="0">
                <a:solidFill>
                  <a:schemeClr val="bg1"/>
                </a:solidFill>
              </a:rPr>
              <a:t>the context is gathered and the prompt is built, it passes securely to a proxy server hosted in a GitHub-owned Microsoft Azure tenant.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bg1"/>
                </a:solidFill>
              </a:rPr>
              <a:t>proxy filters traffic, blocking attempts to hack the prompt or manipulate the system into revealing details about how the model generates code suggestions.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47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Toxicity </a:t>
            </a:r>
            <a:r>
              <a:rPr lang="en-IN" b="1" dirty="0" smtClean="0">
                <a:solidFill>
                  <a:srgbClr val="00B050"/>
                </a:solidFill>
              </a:rPr>
              <a:t>filtering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Hate speech and inappropriate content</a:t>
            </a:r>
            <a:r>
              <a:rPr lang="en-US" dirty="0">
                <a:solidFill>
                  <a:schemeClr val="bg1"/>
                </a:solidFill>
              </a:rPr>
              <a:t>: Copilot employs algorithms to detect and prevent the intake of hate speech, offensive language, or inappropriate content that could be harmful or </a:t>
            </a:r>
            <a:r>
              <a:rPr lang="en-US" dirty="0" smtClean="0">
                <a:solidFill>
                  <a:schemeClr val="bg1"/>
                </a:solidFill>
              </a:rPr>
              <a:t>offensive.</a:t>
            </a:r>
          </a:p>
          <a:p>
            <a:r>
              <a:rPr lang="en-US" b="1" dirty="0">
                <a:solidFill>
                  <a:schemeClr val="bg1"/>
                </a:solidFill>
              </a:rPr>
              <a:t>Personal data</a:t>
            </a:r>
            <a:r>
              <a:rPr lang="en-US" dirty="0">
                <a:solidFill>
                  <a:schemeClr val="bg1"/>
                </a:solidFill>
              </a:rPr>
              <a:t>: Copilot actively filters out any personal data, such as names, addresses, or identification numbers, to protect user privacy and data security.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195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Code generation with </a:t>
            </a:r>
            <a:r>
              <a:rPr lang="en-IN" b="1" dirty="0" smtClean="0">
                <a:solidFill>
                  <a:srgbClr val="00B050"/>
                </a:solidFill>
              </a:rPr>
              <a:t>LLM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Finally, the filtered and analyzed prompt is passed to LLM Models, which generate appropriate code suggestions.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781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GitHub Copilot user prompt process flow - </a:t>
            </a:r>
            <a:r>
              <a:rPr lang="en-US" sz="3200" dirty="0" smtClean="0">
                <a:solidFill>
                  <a:srgbClr val="00B050"/>
                </a:solidFill>
              </a:rPr>
              <a:t>OUTBOUND</a:t>
            </a:r>
            <a:endParaRPr lang="en-IN" sz="3200" dirty="0">
              <a:solidFill>
                <a:srgbClr val="00B05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600200"/>
            <a:ext cx="5969987" cy="4949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9970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OUTBOUND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Once the model produces its responses, the toxicity filter removes any harmful or offensive generated content. The proxy server then applies a final layer of checks to ensure code quality, security, and ethical standards.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598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GitHub </a:t>
            </a:r>
            <a:r>
              <a:rPr lang="en-IN" dirty="0" err="1" smtClean="0">
                <a:solidFill>
                  <a:srgbClr val="00B050"/>
                </a:solidFill>
              </a:rPr>
              <a:t>Copilot</a:t>
            </a:r>
            <a:r>
              <a:rPr lang="en-IN" dirty="0" smtClean="0">
                <a:solidFill>
                  <a:srgbClr val="00B050"/>
                </a:solidFill>
              </a:rPr>
              <a:t> Support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GitHub Copilot offers a free tier with 2,000 code autocompletes and 50 chat messages per month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Educators, Students and select open-source maintainers can receive Copilot Pro for free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Languages and Framework Support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GitHub Copilot provides robust support for a wide range of programming languages and frameworks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rgbClr val="FFC000"/>
                </a:solidFill>
              </a:rPr>
              <a:t>-Python</a:t>
            </a:r>
          </a:p>
          <a:p>
            <a:r>
              <a:rPr lang="en-IN" dirty="0">
                <a:solidFill>
                  <a:srgbClr val="FFC000"/>
                </a:solidFill>
              </a:rPr>
              <a:t>-JavaScript</a:t>
            </a:r>
          </a:p>
          <a:p>
            <a:r>
              <a:rPr lang="en-IN" dirty="0">
                <a:solidFill>
                  <a:srgbClr val="FFC000"/>
                </a:solidFill>
              </a:rPr>
              <a:t>-Java</a:t>
            </a:r>
          </a:p>
          <a:p>
            <a:r>
              <a:rPr lang="en-IN" dirty="0">
                <a:solidFill>
                  <a:srgbClr val="FFC000"/>
                </a:solidFill>
              </a:rPr>
              <a:t>-</a:t>
            </a:r>
            <a:r>
              <a:rPr lang="en-IN" dirty="0" err="1">
                <a:solidFill>
                  <a:srgbClr val="FFC000"/>
                </a:solidFill>
              </a:rPr>
              <a:t>TypeScript</a:t>
            </a:r>
            <a:endParaRPr lang="en-IN" dirty="0">
              <a:solidFill>
                <a:srgbClr val="FFC000"/>
              </a:solidFill>
            </a:endParaRPr>
          </a:p>
          <a:p>
            <a:r>
              <a:rPr lang="en-IN" dirty="0">
                <a:solidFill>
                  <a:srgbClr val="FFC000"/>
                </a:solidFill>
              </a:rPr>
              <a:t>-Ruby</a:t>
            </a:r>
          </a:p>
          <a:p>
            <a:r>
              <a:rPr lang="en-IN" dirty="0">
                <a:solidFill>
                  <a:srgbClr val="FFC000"/>
                </a:solidFill>
              </a:rPr>
              <a:t>-Go</a:t>
            </a:r>
          </a:p>
          <a:p>
            <a:r>
              <a:rPr lang="en-IN" dirty="0">
                <a:solidFill>
                  <a:srgbClr val="FFC000"/>
                </a:solidFill>
              </a:rPr>
              <a:t>-C#</a:t>
            </a:r>
          </a:p>
          <a:p>
            <a:r>
              <a:rPr lang="en-IN" dirty="0">
                <a:solidFill>
                  <a:srgbClr val="FFC000"/>
                </a:solidFill>
              </a:rPr>
              <a:t>-C</a:t>
            </a:r>
            <a:r>
              <a:rPr lang="en-IN" dirty="0" smtClean="0">
                <a:solidFill>
                  <a:srgbClr val="FFC000"/>
                </a:solidFill>
              </a:rPr>
              <a:t>++ and so on</a:t>
            </a:r>
            <a:endParaRPr lang="en-IN" dirty="0">
              <a:solidFill>
                <a:srgbClr val="FFC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037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5780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Copilot can work with various types of comments to inform its </a:t>
            </a:r>
            <a:r>
              <a:rPr lang="en-US" dirty="0" smtClean="0">
                <a:solidFill>
                  <a:srgbClr val="00B050"/>
                </a:solidFill>
              </a:rPr>
              <a:t>suggestions</a:t>
            </a:r>
            <a:r>
              <a:rPr lang="en-US" dirty="0">
                <a:solidFill>
                  <a:srgbClr val="00B050"/>
                </a:solidFill>
              </a:rPr>
              <a:t/>
            </a:r>
            <a:br>
              <a:rPr lang="en-US" dirty="0">
                <a:solidFill>
                  <a:srgbClr val="00B050"/>
                </a:solidFill>
              </a:rPr>
            </a:b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</a:t>
            </a:r>
            <a:r>
              <a:rPr lang="en-US" dirty="0">
                <a:solidFill>
                  <a:schemeClr val="bg1"/>
                </a:solidFill>
              </a:rPr>
              <a:t>Inline comments: Short explanations next to specific lines of code.</a:t>
            </a:r>
          </a:p>
          <a:p>
            <a:r>
              <a:rPr lang="en-US" dirty="0">
                <a:solidFill>
                  <a:schemeClr val="bg1"/>
                </a:solidFill>
              </a:rPr>
              <a:t>-Block comments: Longer explanations that might describe a function or class.</a:t>
            </a:r>
          </a:p>
          <a:p>
            <a:r>
              <a:rPr lang="en-US" smtClean="0">
                <a:solidFill>
                  <a:schemeClr val="bg1"/>
                </a:solidFill>
              </a:rPr>
              <a:t>-</a:t>
            </a:r>
            <a:r>
              <a:rPr lang="en-US" dirty="0">
                <a:solidFill>
                  <a:schemeClr val="bg1"/>
                </a:solidFill>
              </a:rPr>
              <a:t>TODO comments: Notes about future implementations or improvements.</a:t>
            </a:r>
          </a:p>
          <a:p>
            <a:r>
              <a:rPr lang="en-US" dirty="0">
                <a:solidFill>
                  <a:schemeClr val="bg1"/>
                </a:solidFill>
              </a:rPr>
              <a:t>-API Documentation: Comments that describe the usage and parameters of functions or methods.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179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2678</TotalTime>
  <Words>519</Words>
  <Application>Microsoft Office PowerPoint</Application>
  <PresentationFormat>On-screen Show (4:3)</PresentationFormat>
  <Paragraphs>59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 principles of responsible AI</vt:lpstr>
      <vt:lpstr>Prompt engineering</vt:lpstr>
      <vt:lpstr>What is prompt engineering?</vt:lpstr>
      <vt:lpstr>Principles of prompt engineering</vt:lpstr>
      <vt:lpstr>Best practices in prompt engineering</vt:lpstr>
      <vt:lpstr>How Copilot learns from your prompts</vt:lpstr>
      <vt:lpstr>GitHub Copilot user prompt process flow - INBOUND</vt:lpstr>
      <vt:lpstr>Proxy filter</vt:lpstr>
      <vt:lpstr>Toxicity filtering</vt:lpstr>
      <vt:lpstr>Code generation with LLM</vt:lpstr>
      <vt:lpstr>GitHub Copilot user prompt process flow - OUTBOUND</vt:lpstr>
      <vt:lpstr>OUTBOUND</vt:lpstr>
      <vt:lpstr>GitHub Copilot Support</vt:lpstr>
      <vt:lpstr>Languages and Framework Support</vt:lpstr>
      <vt:lpstr>Copilot can work with various types of comments to inform its suggestions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Ramnath Nishad</dc:creator>
  <cp:lastModifiedBy>Ramnath Nishad</cp:lastModifiedBy>
  <cp:revision>71</cp:revision>
  <dcterms:created xsi:type="dcterms:W3CDTF">2025-07-05T03:07:48Z</dcterms:created>
  <dcterms:modified xsi:type="dcterms:W3CDTF">2026-05-05T04:04:34Z</dcterms:modified>
</cp:coreProperties>
</file>