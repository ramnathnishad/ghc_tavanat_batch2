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16" r:id="rId2"/>
    <p:sldId id="297" r:id="rId3"/>
    <p:sldId id="308" r:id="rId4"/>
    <p:sldId id="309" r:id="rId5"/>
    <p:sldId id="312" r:id="rId6"/>
    <p:sldId id="313" r:id="rId7"/>
    <p:sldId id="299" r:id="rId8"/>
    <p:sldId id="314" r:id="rId9"/>
    <p:sldId id="310" r:id="rId10"/>
    <p:sldId id="315" r:id="rId11"/>
    <p:sldId id="311" r:id="rId12"/>
    <p:sldId id="300" r:id="rId13"/>
    <p:sldId id="342" r:id="rId14"/>
    <p:sldId id="329" r:id="rId15"/>
    <p:sldId id="331" r:id="rId16"/>
    <p:sldId id="332" r:id="rId17"/>
    <p:sldId id="333" r:id="rId18"/>
    <p:sldId id="334" r:id="rId19"/>
    <p:sldId id="335" r:id="rId20"/>
    <p:sldId id="339" r:id="rId21"/>
    <p:sldId id="336" r:id="rId22"/>
    <p:sldId id="337" r:id="rId23"/>
    <p:sldId id="338" r:id="rId24"/>
    <p:sldId id="340" r:id="rId25"/>
    <p:sldId id="341" r:id="rId2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32323"/>
    <a:srgbClr val="2A2A2A"/>
    <a:srgbClr val="212121"/>
    <a:srgbClr val="262626"/>
    <a:srgbClr val="3A3A3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2" d="100"/>
          <a:sy n="82" d="100"/>
        </p:scale>
        <p:origin x="-1474" y="-91"/>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0BCB8BF7-18B5-4007-BEA7-CEDB67F2B5B1}" type="datetimeFigureOut">
              <a:rPr lang="en-IN" smtClean="0"/>
              <a:t>13-05-2026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529167F-2527-4AB3-8F50-D3010F11945D}" type="slidenum">
              <a:rPr lang="en-IN" smtClean="0"/>
              <a:t>‹#›</a:t>
            </a:fld>
            <a:endParaRPr lang="en-IN"/>
          </a:p>
        </p:txBody>
      </p:sp>
    </p:spTree>
    <p:extLst>
      <p:ext uri="{BB962C8B-B14F-4D97-AF65-F5344CB8AC3E}">
        <p14:creationId xmlns:p14="http://schemas.microsoft.com/office/powerpoint/2010/main" val="1337616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0BCB8BF7-18B5-4007-BEA7-CEDB67F2B5B1}" type="datetimeFigureOut">
              <a:rPr lang="en-IN" smtClean="0"/>
              <a:t>13-05-2026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529167F-2527-4AB3-8F50-D3010F11945D}" type="slidenum">
              <a:rPr lang="en-IN" smtClean="0"/>
              <a:t>‹#›</a:t>
            </a:fld>
            <a:endParaRPr lang="en-IN"/>
          </a:p>
        </p:txBody>
      </p:sp>
    </p:spTree>
    <p:extLst>
      <p:ext uri="{BB962C8B-B14F-4D97-AF65-F5344CB8AC3E}">
        <p14:creationId xmlns:p14="http://schemas.microsoft.com/office/powerpoint/2010/main" val="604586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BCB8BF7-18B5-4007-BEA7-CEDB67F2B5B1}" type="datetimeFigureOut">
              <a:rPr lang="en-IN" smtClean="0"/>
              <a:t>13-05-2026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529167F-2527-4AB3-8F50-D3010F11945D}" type="slidenum">
              <a:rPr lang="en-IN" smtClean="0"/>
              <a:t>‹#›</a:t>
            </a:fld>
            <a:endParaRPr lang="en-IN"/>
          </a:p>
        </p:txBody>
      </p:sp>
    </p:spTree>
    <p:extLst>
      <p:ext uri="{BB962C8B-B14F-4D97-AF65-F5344CB8AC3E}">
        <p14:creationId xmlns:p14="http://schemas.microsoft.com/office/powerpoint/2010/main" val="38978363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0BCB8BF7-18B5-4007-BEA7-CEDB67F2B5B1}" type="datetimeFigureOut">
              <a:rPr lang="en-IN" smtClean="0"/>
              <a:t>13-05-2026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529167F-2527-4AB3-8F50-D3010F11945D}" type="slidenum">
              <a:rPr lang="en-IN" smtClean="0"/>
              <a:t>‹#›</a:t>
            </a:fld>
            <a:endParaRPr lang="en-IN"/>
          </a:p>
        </p:txBody>
      </p:sp>
    </p:spTree>
    <p:extLst>
      <p:ext uri="{BB962C8B-B14F-4D97-AF65-F5344CB8AC3E}">
        <p14:creationId xmlns:p14="http://schemas.microsoft.com/office/powerpoint/2010/main" val="28568194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0BCB8BF7-18B5-4007-BEA7-CEDB67F2B5B1}" type="datetimeFigureOut">
              <a:rPr lang="en-IN" smtClean="0"/>
              <a:t>13-05-2026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529167F-2527-4AB3-8F50-D3010F11945D}" type="slidenum">
              <a:rPr lang="en-IN" smtClean="0"/>
              <a:t>‹#›</a:t>
            </a:fld>
            <a:endParaRPr lang="en-IN"/>
          </a:p>
        </p:txBody>
      </p:sp>
    </p:spTree>
    <p:extLst>
      <p:ext uri="{BB962C8B-B14F-4D97-AF65-F5344CB8AC3E}">
        <p14:creationId xmlns:p14="http://schemas.microsoft.com/office/powerpoint/2010/main" val="31886768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0BCB8BF7-18B5-4007-BEA7-CEDB67F2B5B1}" type="datetimeFigureOut">
              <a:rPr lang="en-IN" smtClean="0"/>
              <a:t>13-05-2026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529167F-2527-4AB3-8F50-D3010F11945D}" type="slidenum">
              <a:rPr lang="en-IN" smtClean="0"/>
              <a:t>‹#›</a:t>
            </a:fld>
            <a:endParaRPr lang="en-IN"/>
          </a:p>
        </p:txBody>
      </p:sp>
    </p:spTree>
    <p:extLst>
      <p:ext uri="{BB962C8B-B14F-4D97-AF65-F5344CB8AC3E}">
        <p14:creationId xmlns:p14="http://schemas.microsoft.com/office/powerpoint/2010/main" val="37066680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BCB8BF7-18B5-4007-BEA7-CEDB67F2B5B1}" type="datetimeFigureOut">
              <a:rPr lang="en-IN" smtClean="0"/>
              <a:t>13-05-2026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529167F-2527-4AB3-8F50-D3010F11945D}" type="slidenum">
              <a:rPr lang="en-IN" smtClean="0"/>
              <a:t>‹#›</a:t>
            </a:fld>
            <a:endParaRPr lang="en-IN"/>
          </a:p>
        </p:txBody>
      </p:sp>
    </p:spTree>
    <p:extLst>
      <p:ext uri="{BB962C8B-B14F-4D97-AF65-F5344CB8AC3E}">
        <p14:creationId xmlns:p14="http://schemas.microsoft.com/office/powerpoint/2010/main" val="31224114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BCB8BF7-18B5-4007-BEA7-CEDB67F2B5B1}" type="datetimeFigureOut">
              <a:rPr lang="en-IN" smtClean="0"/>
              <a:t>13-05-2026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529167F-2527-4AB3-8F50-D3010F11945D}" type="slidenum">
              <a:rPr lang="en-IN" smtClean="0"/>
              <a:t>‹#›</a:t>
            </a:fld>
            <a:endParaRPr lang="en-IN"/>
          </a:p>
        </p:txBody>
      </p:sp>
    </p:spTree>
    <p:extLst>
      <p:ext uri="{BB962C8B-B14F-4D97-AF65-F5344CB8AC3E}">
        <p14:creationId xmlns:p14="http://schemas.microsoft.com/office/powerpoint/2010/main" val="30513165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BCB8BF7-18B5-4007-BEA7-CEDB67F2B5B1}" type="datetimeFigureOut">
              <a:rPr lang="en-IN" smtClean="0"/>
              <a:t>13-05-2026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529167F-2527-4AB3-8F50-D3010F11945D}" type="slidenum">
              <a:rPr lang="en-IN" smtClean="0"/>
              <a:t>‹#›</a:t>
            </a:fld>
            <a:endParaRPr lang="en-IN"/>
          </a:p>
        </p:txBody>
      </p:sp>
    </p:spTree>
    <p:extLst>
      <p:ext uri="{BB962C8B-B14F-4D97-AF65-F5344CB8AC3E}">
        <p14:creationId xmlns:p14="http://schemas.microsoft.com/office/powerpoint/2010/main" val="1780534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0BCB8BF7-18B5-4007-BEA7-CEDB67F2B5B1}" type="datetimeFigureOut">
              <a:rPr lang="en-IN" smtClean="0"/>
              <a:t>13-05-2026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529167F-2527-4AB3-8F50-D3010F11945D}" type="slidenum">
              <a:rPr lang="en-IN" smtClean="0"/>
              <a:t>‹#›</a:t>
            </a:fld>
            <a:endParaRPr lang="en-IN"/>
          </a:p>
        </p:txBody>
      </p:sp>
    </p:spTree>
    <p:extLst>
      <p:ext uri="{BB962C8B-B14F-4D97-AF65-F5344CB8AC3E}">
        <p14:creationId xmlns:p14="http://schemas.microsoft.com/office/powerpoint/2010/main" val="36473747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0BCB8BF7-18B5-4007-BEA7-CEDB67F2B5B1}" type="datetimeFigureOut">
              <a:rPr lang="en-IN" smtClean="0"/>
              <a:t>13-05-2026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529167F-2527-4AB3-8F50-D3010F11945D}" type="slidenum">
              <a:rPr lang="en-IN" smtClean="0"/>
              <a:t>‹#›</a:t>
            </a:fld>
            <a:endParaRPr lang="en-IN"/>
          </a:p>
        </p:txBody>
      </p:sp>
    </p:spTree>
    <p:extLst>
      <p:ext uri="{BB962C8B-B14F-4D97-AF65-F5344CB8AC3E}">
        <p14:creationId xmlns:p14="http://schemas.microsoft.com/office/powerpoint/2010/main" val="32697893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232323"/>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BCB8BF7-18B5-4007-BEA7-CEDB67F2B5B1}" type="datetimeFigureOut">
              <a:rPr lang="en-IN" smtClean="0"/>
              <a:t>13-05-2026</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529167F-2527-4AB3-8F50-D3010F11945D}" type="slidenum">
              <a:rPr lang="en-IN" smtClean="0"/>
              <a:t>‹#›</a:t>
            </a:fld>
            <a:endParaRPr lang="en-IN"/>
          </a:p>
        </p:txBody>
      </p:sp>
    </p:spTree>
    <p:extLst>
      <p:ext uri="{BB962C8B-B14F-4D97-AF65-F5344CB8AC3E}">
        <p14:creationId xmlns:p14="http://schemas.microsoft.com/office/powerpoint/2010/main" val="23064080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492896"/>
            <a:ext cx="8229600" cy="1143000"/>
          </a:xfrm>
        </p:spPr>
        <p:txBody>
          <a:bodyPr/>
          <a:lstStyle/>
          <a:p>
            <a:r>
              <a:rPr lang="en-IN" b="1" dirty="0" smtClean="0">
                <a:solidFill>
                  <a:schemeClr val="bg1"/>
                </a:solidFill>
              </a:rPr>
              <a:t>DOCUMENTATION</a:t>
            </a:r>
            <a:endParaRPr lang="en-IN" b="1" dirty="0">
              <a:solidFill>
                <a:schemeClr val="bg1"/>
              </a:solidFill>
            </a:endParaRPr>
          </a:p>
        </p:txBody>
      </p:sp>
    </p:spTree>
    <p:extLst>
      <p:ext uri="{BB962C8B-B14F-4D97-AF65-F5344CB8AC3E}">
        <p14:creationId xmlns:p14="http://schemas.microsoft.com/office/powerpoint/2010/main" val="398360905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solidFill>
                  <a:srgbClr val="00B050"/>
                </a:solidFill>
              </a:rPr>
              <a:t>Generate inline code documentation using GitHub </a:t>
            </a:r>
            <a:r>
              <a:rPr lang="en-IN" b="1" dirty="0" err="1" smtClean="0">
                <a:solidFill>
                  <a:srgbClr val="00B050"/>
                </a:solidFill>
              </a:rPr>
              <a:t>Copilot</a:t>
            </a:r>
            <a:endParaRPr lang="en-IN" dirty="0">
              <a:solidFill>
                <a:srgbClr val="00B050"/>
              </a:solidFill>
            </a:endParaRPr>
          </a:p>
        </p:txBody>
      </p:sp>
      <p:sp>
        <p:nvSpPr>
          <p:cNvPr id="3" name="Content Placeholder 2"/>
          <p:cNvSpPr>
            <a:spLocks noGrp="1"/>
          </p:cNvSpPr>
          <p:nvPr>
            <p:ph idx="1"/>
          </p:nvPr>
        </p:nvSpPr>
        <p:spPr/>
        <p:txBody>
          <a:bodyPr>
            <a:normAutofit fontScale="85000" lnSpcReduction="10000"/>
          </a:bodyPr>
          <a:lstStyle/>
          <a:p>
            <a:pPr marL="0" indent="0">
              <a:buNone/>
            </a:pPr>
            <a:r>
              <a:rPr lang="en-US" dirty="0">
                <a:solidFill>
                  <a:srgbClr val="FFC000"/>
                </a:solidFill>
              </a:rPr>
              <a:t>Ask mode: </a:t>
            </a:r>
            <a:endParaRPr lang="en-US" dirty="0" smtClean="0">
              <a:solidFill>
                <a:srgbClr val="FFC000"/>
              </a:solidFill>
            </a:endParaRPr>
          </a:p>
          <a:p>
            <a:pPr marL="0" indent="0">
              <a:buNone/>
            </a:pPr>
            <a:r>
              <a:rPr lang="en-US" dirty="0" smtClean="0">
                <a:solidFill>
                  <a:schemeClr val="bg1"/>
                </a:solidFill>
              </a:rPr>
              <a:t>Use </a:t>
            </a:r>
            <a:r>
              <a:rPr lang="en-US" dirty="0">
                <a:solidFill>
                  <a:schemeClr val="bg1"/>
                </a:solidFill>
              </a:rPr>
              <a:t>the ask mode to suggest inline code documentation for a code file, class, or method. Review the suggested inline documentation in the Chat view. </a:t>
            </a:r>
            <a:endParaRPr lang="en-US" dirty="0" smtClean="0">
              <a:solidFill>
                <a:schemeClr val="bg1"/>
              </a:solidFill>
            </a:endParaRPr>
          </a:p>
          <a:p>
            <a:pPr marL="0" indent="0">
              <a:buNone/>
            </a:pPr>
            <a:r>
              <a:rPr lang="en-US" dirty="0" smtClean="0">
                <a:solidFill>
                  <a:schemeClr val="bg1"/>
                </a:solidFill>
              </a:rPr>
              <a:t>Request </a:t>
            </a:r>
            <a:r>
              <a:rPr lang="en-US" dirty="0">
                <a:solidFill>
                  <a:schemeClr val="bg1"/>
                </a:solidFill>
              </a:rPr>
              <a:t>updates as needed in the chat conversation. Once you're satisfied with the proposed documentation, you can insert the suggested documentation into the corresponding code file</a:t>
            </a:r>
            <a:r>
              <a:rPr lang="en-US" dirty="0" smtClean="0">
                <a:solidFill>
                  <a:schemeClr val="bg1"/>
                </a:solidFill>
              </a:rPr>
              <a:t>.</a:t>
            </a:r>
          </a:p>
          <a:p>
            <a:pPr marL="0" indent="0">
              <a:buNone/>
            </a:pPr>
            <a:r>
              <a:rPr lang="en-US" dirty="0">
                <a:solidFill>
                  <a:schemeClr val="bg1"/>
                </a:solidFill>
              </a:rPr>
              <a:t>e.g. </a:t>
            </a:r>
            <a:r>
              <a:rPr lang="en-US" dirty="0">
                <a:solidFill>
                  <a:srgbClr val="FFC000"/>
                </a:solidFill>
              </a:rPr>
              <a:t>@workspace /doc Create inline code documentation for the </a:t>
            </a:r>
            <a:r>
              <a:rPr lang="en-US" dirty="0" err="1">
                <a:solidFill>
                  <a:srgbClr val="FFC000"/>
                </a:solidFill>
              </a:rPr>
              <a:t>ConsoleApp</a:t>
            </a:r>
            <a:r>
              <a:rPr lang="en-US" dirty="0">
                <a:solidFill>
                  <a:srgbClr val="FFC000"/>
                </a:solidFill>
              </a:rPr>
              <a:t> class.</a:t>
            </a:r>
          </a:p>
          <a:p>
            <a:endParaRPr lang="en-IN" dirty="0">
              <a:solidFill>
                <a:schemeClr val="bg1"/>
              </a:solidFill>
            </a:endParaRPr>
          </a:p>
        </p:txBody>
      </p:sp>
    </p:spTree>
    <p:extLst>
      <p:ext uri="{BB962C8B-B14F-4D97-AF65-F5344CB8AC3E}">
        <p14:creationId xmlns:p14="http://schemas.microsoft.com/office/powerpoint/2010/main" val="102983501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solidFill>
                  <a:srgbClr val="00B050"/>
                </a:solidFill>
              </a:rPr>
              <a:t>Generate inline code documentation using GitHub </a:t>
            </a:r>
            <a:r>
              <a:rPr lang="en-IN" b="1" dirty="0" err="1" smtClean="0">
                <a:solidFill>
                  <a:srgbClr val="00B050"/>
                </a:solidFill>
              </a:rPr>
              <a:t>Copilot</a:t>
            </a:r>
            <a:endParaRPr lang="en-IN" dirty="0">
              <a:solidFill>
                <a:srgbClr val="00B050"/>
              </a:solidFill>
            </a:endParaRPr>
          </a:p>
        </p:txBody>
      </p:sp>
      <p:sp>
        <p:nvSpPr>
          <p:cNvPr id="3" name="Content Placeholder 2"/>
          <p:cNvSpPr>
            <a:spLocks noGrp="1"/>
          </p:cNvSpPr>
          <p:nvPr>
            <p:ph idx="1"/>
          </p:nvPr>
        </p:nvSpPr>
        <p:spPr/>
        <p:txBody>
          <a:bodyPr>
            <a:normAutofit fontScale="77500" lnSpcReduction="20000"/>
          </a:bodyPr>
          <a:lstStyle/>
          <a:p>
            <a:pPr marL="0" indent="0">
              <a:buNone/>
            </a:pPr>
            <a:r>
              <a:rPr lang="en-US" dirty="0" smtClean="0">
                <a:solidFill>
                  <a:srgbClr val="FFC000"/>
                </a:solidFill>
              </a:rPr>
              <a:t>Agent mode</a:t>
            </a:r>
            <a:r>
              <a:rPr lang="en-US" dirty="0">
                <a:solidFill>
                  <a:srgbClr val="FFC000"/>
                </a:solidFill>
              </a:rPr>
              <a:t>: </a:t>
            </a:r>
            <a:endParaRPr lang="en-US" dirty="0" smtClean="0">
              <a:solidFill>
                <a:srgbClr val="FFC000"/>
              </a:solidFill>
            </a:endParaRPr>
          </a:p>
          <a:p>
            <a:pPr marL="0" indent="0">
              <a:buNone/>
            </a:pPr>
            <a:r>
              <a:rPr lang="en-US" dirty="0">
                <a:solidFill>
                  <a:schemeClr val="bg1"/>
                </a:solidFill>
              </a:rPr>
              <a:t>Use the agent mode to autonomously generate inline code documentation for specified code projects, files, classes, or methods. Have the agent perform other tasks during or after the documentation process. Accept or reject the updates when the agent has completed the assigned tasks</a:t>
            </a:r>
            <a:r>
              <a:rPr lang="en-US" dirty="0" smtClean="0">
                <a:solidFill>
                  <a:schemeClr val="bg1"/>
                </a:solidFill>
              </a:rPr>
              <a:t>.</a:t>
            </a:r>
            <a:endParaRPr lang="en-US" dirty="0">
              <a:solidFill>
                <a:schemeClr val="bg1"/>
              </a:solidFill>
            </a:endParaRPr>
          </a:p>
          <a:p>
            <a:pPr marL="0" indent="0">
              <a:buNone/>
            </a:pPr>
            <a:endParaRPr lang="en-US" dirty="0" smtClean="0">
              <a:solidFill>
                <a:schemeClr val="bg1"/>
              </a:solidFill>
            </a:endParaRPr>
          </a:p>
          <a:p>
            <a:pPr marL="0" indent="0">
              <a:buNone/>
            </a:pPr>
            <a:r>
              <a:rPr lang="en-US" dirty="0" smtClean="0">
                <a:solidFill>
                  <a:srgbClr val="FFC000"/>
                </a:solidFill>
              </a:rPr>
              <a:t>e.g. “Create </a:t>
            </a:r>
            <a:r>
              <a:rPr lang="en-US" dirty="0">
                <a:solidFill>
                  <a:srgbClr val="FFC000"/>
                </a:solidFill>
              </a:rPr>
              <a:t>inline code documentation for all C# class files in the specified context. Document the class, properties, and methods. Do not add documentation to JSON, markdown, or other file types. Do not document </a:t>
            </a:r>
            <a:r>
              <a:rPr lang="en-US" dirty="0" err="1">
                <a:solidFill>
                  <a:srgbClr val="FFC000"/>
                </a:solidFill>
              </a:rPr>
              <a:t>UnitTest</a:t>
            </a:r>
            <a:r>
              <a:rPr lang="en-US" dirty="0">
                <a:solidFill>
                  <a:srgbClr val="FFC000"/>
                </a:solidFill>
              </a:rPr>
              <a:t> project files in the Test folder. Ensure that the solution builds without errors after the documentation is added</a:t>
            </a:r>
            <a:r>
              <a:rPr lang="en-US" dirty="0" smtClean="0">
                <a:solidFill>
                  <a:srgbClr val="FFC000"/>
                </a:solidFill>
              </a:rPr>
              <a:t>.”</a:t>
            </a:r>
            <a:endParaRPr lang="en-IN" dirty="0">
              <a:solidFill>
                <a:srgbClr val="FFC000"/>
              </a:solidFill>
            </a:endParaRPr>
          </a:p>
        </p:txBody>
      </p:sp>
    </p:spTree>
    <p:extLst>
      <p:ext uri="{BB962C8B-B14F-4D97-AF65-F5344CB8AC3E}">
        <p14:creationId xmlns:p14="http://schemas.microsoft.com/office/powerpoint/2010/main" val="393207962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solidFill>
                  <a:srgbClr val="00B050"/>
                </a:solidFill>
              </a:rPr>
              <a:t>Generate inline code documentation using GitHub </a:t>
            </a:r>
            <a:r>
              <a:rPr lang="en-IN" b="1" dirty="0" err="1" smtClean="0">
                <a:solidFill>
                  <a:srgbClr val="00B050"/>
                </a:solidFill>
              </a:rPr>
              <a:t>Copilot</a:t>
            </a:r>
            <a:endParaRPr lang="en-IN" dirty="0">
              <a:solidFill>
                <a:srgbClr val="00B050"/>
              </a:solidFill>
            </a:endParaRPr>
          </a:p>
        </p:txBody>
      </p:sp>
      <p:sp>
        <p:nvSpPr>
          <p:cNvPr id="3" name="Content Placeholder 2"/>
          <p:cNvSpPr>
            <a:spLocks noGrp="1"/>
          </p:cNvSpPr>
          <p:nvPr>
            <p:ph idx="1"/>
          </p:nvPr>
        </p:nvSpPr>
        <p:spPr/>
        <p:txBody>
          <a:bodyPr>
            <a:normAutofit fontScale="85000" lnSpcReduction="10000"/>
          </a:bodyPr>
          <a:lstStyle/>
          <a:p>
            <a:pPr marL="0" indent="0">
              <a:buNone/>
            </a:pPr>
            <a:r>
              <a:rPr lang="en-US" dirty="0" smtClean="0">
                <a:solidFill>
                  <a:srgbClr val="FFC000"/>
                </a:solidFill>
              </a:rPr>
              <a:t>Inline chat mode</a:t>
            </a:r>
            <a:r>
              <a:rPr lang="en-US" dirty="0">
                <a:solidFill>
                  <a:srgbClr val="FFC000"/>
                </a:solidFill>
              </a:rPr>
              <a:t>: </a:t>
            </a:r>
            <a:endParaRPr lang="en-US" dirty="0" smtClean="0">
              <a:solidFill>
                <a:srgbClr val="FFC000"/>
              </a:solidFill>
            </a:endParaRPr>
          </a:p>
          <a:p>
            <a:pPr marL="0" indent="0">
              <a:buNone/>
            </a:pPr>
            <a:r>
              <a:rPr lang="en-US" dirty="0">
                <a:solidFill>
                  <a:schemeClr val="bg1"/>
                </a:solidFill>
              </a:rPr>
              <a:t>Use an inline chat session to work directly in the code editor. The inline chat is useful when you want to document specific code (classes, methods, or code blocks) without leaving the editor. You can provide specific instructions in the </a:t>
            </a:r>
            <a:r>
              <a:rPr lang="en-US" dirty="0" smtClean="0">
                <a:solidFill>
                  <a:schemeClr val="bg1"/>
                </a:solidFill>
              </a:rPr>
              <a:t>prompt. </a:t>
            </a:r>
            <a:r>
              <a:rPr lang="en-US" dirty="0">
                <a:solidFill>
                  <a:schemeClr val="bg1"/>
                </a:solidFill>
              </a:rPr>
              <a:t>Updates are displayed in the code editor and can be accepted or rejected. You can also choose the option to rerun the prompt with or without updates</a:t>
            </a:r>
            <a:r>
              <a:rPr lang="en-US" dirty="0" smtClean="0">
                <a:solidFill>
                  <a:schemeClr val="bg1"/>
                </a:solidFill>
              </a:rPr>
              <a:t>.</a:t>
            </a:r>
          </a:p>
          <a:p>
            <a:pPr marL="0" indent="0">
              <a:buNone/>
            </a:pPr>
            <a:r>
              <a:rPr lang="en-US" dirty="0">
                <a:solidFill>
                  <a:srgbClr val="FFC000"/>
                </a:solidFill>
              </a:rPr>
              <a:t>e.g. </a:t>
            </a:r>
            <a:r>
              <a:rPr lang="en-US" dirty="0" smtClean="0">
                <a:solidFill>
                  <a:srgbClr val="FFC000"/>
                </a:solidFill>
              </a:rPr>
              <a:t>“Document </a:t>
            </a:r>
            <a:r>
              <a:rPr lang="en-US" dirty="0">
                <a:solidFill>
                  <a:srgbClr val="FFC000"/>
                </a:solidFill>
              </a:rPr>
              <a:t>the selected method. List </a:t>
            </a:r>
            <a:r>
              <a:rPr lang="en-US" dirty="0" err="1">
                <a:solidFill>
                  <a:srgbClr val="FFC000"/>
                </a:solidFill>
              </a:rPr>
              <a:t>currentState</a:t>
            </a:r>
            <a:r>
              <a:rPr lang="en-US" dirty="0">
                <a:solidFill>
                  <a:srgbClr val="FFC000"/>
                </a:solidFill>
              </a:rPr>
              <a:t> </a:t>
            </a:r>
            <a:r>
              <a:rPr lang="en-US" dirty="0" smtClean="0">
                <a:solidFill>
                  <a:srgbClr val="FFC000"/>
                </a:solidFill>
              </a:rPr>
              <a:t>options”</a:t>
            </a:r>
            <a:endParaRPr lang="en-IN" dirty="0">
              <a:solidFill>
                <a:srgbClr val="FFC000"/>
              </a:solidFill>
            </a:endParaRPr>
          </a:p>
        </p:txBody>
      </p:sp>
    </p:spTree>
    <p:extLst>
      <p:ext uri="{BB962C8B-B14F-4D97-AF65-F5344CB8AC3E}">
        <p14:creationId xmlns:p14="http://schemas.microsoft.com/office/powerpoint/2010/main" val="377226588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00B050"/>
                </a:solidFill>
              </a:rPr>
              <a:t>Generate project documentation using GitHub Copilot</a:t>
            </a:r>
            <a:endParaRPr lang="en-IN" dirty="0"/>
          </a:p>
        </p:txBody>
      </p:sp>
      <p:sp>
        <p:nvSpPr>
          <p:cNvPr id="3" name="Content Placeholder 2"/>
          <p:cNvSpPr>
            <a:spLocks noGrp="1"/>
          </p:cNvSpPr>
          <p:nvPr>
            <p:ph idx="1"/>
          </p:nvPr>
        </p:nvSpPr>
        <p:spPr/>
        <p:txBody>
          <a:bodyPr>
            <a:normAutofit fontScale="85000" lnSpcReduction="20000"/>
          </a:bodyPr>
          <a:lstStyle/>
          <a:p>
            <a:r>
              <a:rPr lang="en-US" dirty="0">
                <a:solidFill>
                  <a:schemeClr val="bg1"/>
                </a:solidFill>
              </a:rPr>
              <a:t>Project documentation describes the purpose, goals, and requirements of a project. </a:t>
            </a:r>
            <a:endParaRPr lang="en-US" dirty="0" smtClean="0">
              <a:solidFill>
                <a:schemeClr val="bg1"/>
              </a:solidFill>
            </a:endParaRPr>
          </a:p>
          <a:p>
            <a:r>
              <a:rPr lang="en-US" dirty="0" smtClean="0">
                <a:solidFill>
                  <a:schemeClr val="bg1"/>
                </a:solidFill>
              </a:rPr>
              <a:t>To </a:t>
            </a:r>
            <a:r>
              <a:rPr lang="en-US" dirty="0">
                <a:solidFill>
                  <a:schemeClr val="bg1"/>
                </a:solidFill>
              </a:rPr>
              <a:t>create project documentation, you need to understand the project structure, its components, and how the components interact with each other</a:t>
            </a:r>
            <a:r>
              <a:rPr lang="en-US" dirty="0" smtClean="0">
                <a:solidFill>
                  <a:schemeClr val="bg1"/>
                </a:solidFill>
              </a:rPr>
              <a:t>.</a:t>
            </a:r>
          </a:p>
          <a:p>
            <a:r>
              <a:rPr lang="en-US" dirty="0" smtClean="0">
                <a:solidFill>
                  <a:schemeClr val="bg1"/>
                </a:solidFill>
              </a:rPr>
              <a:t>Chat </a:t>
            </a:r>
            <a:r>
              <a:rPr lang="en-US" dirty="0">
                <a:solidFill>
                  <a:schemeClr val="bg1"/>
                </a:solidFill>
              </a:rPr>
              <a:t>view is an ideal tool for generating project documentation, because it can analyze the entire project structure and provide high-level overviews of the project. </a:t>
            </a:r>
            <a:endParaRPr lang="en-US" dirty="0" smtClean="0">
              <a:solidFill>
                <a:schemeClr val="bg1"/>
              </a:solidFill>
            </a:endParaRPr>
          </a:p>
          <a:p>
            <a:r>
              <a:rPr lang="en-US" dirty="0" smtClean="0">
                <a:solidFill>
                  <a:schemeClr val="bg1"/>
                </a:solidFill>
              </a:rPr>
              <a:t>The </a:t>
            </a:r>
            <a:r>
              <a:rPr lang="en-US" dirty="0">
                <a:solidFill>
                  <a:schemeClr val="bg1"/>
                </a:solidFill>
              </a:rPr>
              <a:t>Chat view can also be used to generate specific types of documentation, such as README files, API references, and other project-related documents.</a:t>
            </a:r>
            <a:endParaRPr lang="en-IN" dirty="0">
              <a:solidFill>
                <a:schemeClr val="bg1"/>
              </a:solidFill>
            </a:endParaRPr>
          </a:p>
        </p:txBody>
      </p:sp>
    </p:spTree>
    <p:extLst>
      <p:ext uri="{BB962C8B-B14F-4D97-AF65-F5344CB8AC3E}">
        <p14:creationId xmlns:p14="http://schemas.microsoft.com/office/powerpoint/2010/main" val="288826740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000" dirty="0">
                <a:solidFill>
                  <a:srgbClr val="00B050"/>
                </a:solidFill>
              </a:rPr>
              <a:t>For example, the README.md could include the following sections</a:t>
            </a:r>
            <a:r>
              <a:rPr lang="en-US" sz="4000" dirty="0" smtClean="0">
                <a:solidFill>
                  <a:srgbClr val="00B050"/>
                </a:solidFill>
              </a:rPr>
              <a:t>:</a:t>
            </a:r>
            <a:endParaRPr lang="en-IN" dirty="0"/>
          </a:p>
        </p:txBody>
      </p:sp>
      <p:sp>
        <p:nvSpPr>
          <p:cNvPr id="3" name="Content Placeholder 2"/>
          <p:cNvSpPr>
            <a:spLocks noGrp="1"/>
          </p:cNvSpPr>
          <p:nvPr>
            <p:ph idx="1"/>
          </p:nvPr>
        </p:nvSpPr>
        <p:spPr>
          <a:xfrm>
            <a:off x="457200" y="1600200"/>
            <a:ext cx="8229600" cy="5069160"/>
          </a:xfrm>
        </p:spPr>
        <p:txBody>
          <a:bodyPr>
            <a:normAutofit fontScale="70000" lnSpcReduction="20000"/>
          </a:bodyPr>
          <a:lstStyle/>
          <a:p>
            <a:r>
              <a:rPr lang="en-US" dirty="0" smtClean="0">
                <a:solidFill>
                  <a:srgbClr val="FFC000"/>
                </a:solidFill>
              </a:rPr>
              <a:t>Project </a:t>
            </a:r>
            <a:r>
              <a:rPr lang="en-US" dirty="0">
                <a:solidFill>
                  <a:srgbClr val="FFC000"/>
                </a:solidFill>
              </a:rPr>
              <a:t>Title: </a:t>
            </a:r>
            <a:r>
              <a:rPr lang="en-US" dirty="0">
                <a:solidFill>
                  <a:schemeClr val="bg1"/>
                </a:solidFill>
              </a:rPr>
              <a:t>The name of your project.</a:t>
            </a:r>
          </a:p>
          <a:p>
            <a:r>
              <a:rPr lang="en-US" dirty="0">
                <a:solidFill>
                  <a:srgbClr val="FFC000"/>
                </a:solidFill>
              </a:rPr>
              <a:t>Description</a:t>
            </a:r>
            <a:r>
              <a:rPr lang="en-US" dirty="0">
                <a:solidFill>
                  <a:schemeClr val="bg1"/>
                </a:solidFill>
              </a:rPr>
              <a:t>: A brief overview of what the project does and why it exists.</a:t>
            </a:r>
          </a:p>
          <a:p>
            <a:r>
              <a:rPr lang="en-US" dirty="0">
                <a:solidFill>
                  <a:srgbClr val="FFC000"/>
                </a:solidFill>
              </a:rPr>
              <a:t>Table of Contents</a:t>
            </a:r>
            <a:r>
              <a:rPr lang="en-US" dirty="0">
                <a:solidFill>
                  <a:schemeClr val="bg1"/>
                </a:solidFill>
              </a:rPr>
              <a:t>: Optional, but helpful for longer READMEs.</a:t>
            </a:r>
          </a:p>
          <a:p>
            <a:r>
              <a:rPr lang="en-US" dirty="0">
                <a:solidFill>
                  <a:srgbClr val="FFC000"/>
                </a:solidFill>
              </a:rPr>
              <a:t>Installation</a:t>
            </a:r>
            <a:r>
              <a:rPr lang="en-US" dirty="0">
                <a:solidFill>
                  <a:schemeClr val="bg1"/>
                </a:solidFill>
              </a:rPr>
              <a:t>: Instructions on how to install and set up the project.</a:t>
            </a:r>
          </a:p>
          <a:p>
            <a:r>
              <a:rPr lang="en-US" dirty="0">
                <a:solidFill>
                  <a:srgbClr val="FFC000"/>
                </a:solidFill>
              </a:rPr>
              <a:t>Usage</a:t>
            </a:r>
            <a:r>
              <a:rPr lang="en-US" dirty="0">
                <a:solidFill>
                  <a:schemeClr val="bg1"/>
                </a:solidFill>
              </a:rPr>
              <a:t>: Examples of how to use the project, including code snippets or screenshots.</a:t>
            </a:r>
          </a:p>
          <a:p>
            <a:r>
              <a:rPr lang="en-US" dirty="0">
                <a:solidFill>
                  <a:srgbClr val="FFC000"/>
                </a:solidFill>
              </a:rPr>
              <a:t>Features</a:t>
            </a:r>
            <a:r>
              <a:rPr lang="en-US" dirty="0">
                <a:solidFill>
                  <a:schemeClr val="bg1"/>
                </a:solidFill>
              </a:rPr>
              <a:t>: A list of key features or functionality.</a:t>
            </a:r>
          </a:p>
          <a:p>
            <a:r>
              <a:rPr lang="en-US" dirty="0">
                <a:solidFill>
                  <a:srgbClr val="FFC000"/>
                </a:solidFill>
              </a:rPr>
              <a:t>Configuration</a:t>
            </a:r>
            <a:r>
              <a:rPr lang="en-US" dirty="0">
                <a:solidFill>
                  <a:schemeClr val="bg1"/>
                </a:solidFill>
              </a:rPr>
              <a:t>: Details on any configuration options or environment variables.</a:t>
            </a:r>
          </a:p>
          <a:p>
            <a:r>
              <a:rPr lang="en-US" dirty="0" smtClean="0">
                <a:solidFill>
                  <a:srgbClr val="FFC000"/>
                </a:solidFill>
              </a:rPr>
              <a:t>License</a:t>
            </a:r>
            <a:r>
              <a:rPr lang="en-US" dirty="0">
                <a:solidFill>
                  <a:schemeClr val="bg1"/>
                </a:solidFill>
              </a:rPr>
              <a:t>: Any licenses used by the distributed project.</a:t>
            </a:r>
          </a:p>
          <a:p>
            <a:r>
              <a:rPr lang="en-US" dirty="0">
                <a:solidFill>
                  <a:srgbClr val="FFC000"/>
                </a:solidFill>
              </a:rPr>
              <a:t>Credits and acknowledgments</a:t>
            </a:r>
            <a:r>
              <a:rPr lang="en-US" dirty="0">
                <a:solidFill>
                  <a:schemeClr val="bg1"/>
                </a:solidFill>
              </a:rPr>
              <a:t>: Recognition of contributors, libraries, or resources used.</a:t>
            </a:r>
          </a:p>
          <a:p>
            <a:r>
              <a:rPr lang="en-US" dirty="0">
                <a:solidFill>
                  <a:srgbClr val="FFC000"/>
                </a:solidFill>
              </a:rPr>
              <a:t>Contact</a:t>
            </a:r>
            <a:r>
              <a:rPr lang="en-US" dirty="0">
                <a:solidFill>
                  <a:schemeClr val="bg1"/>
                </a:solidFill>
              </a:rPr>
              <a:t>: How to reach the maintainers or project team.</a:t>
            </a:r>
          </a:p>
          <a:p>
            <a:r>
              <a:rPr lang="en-US" dirty="0">
                <a:solidFill>
                  <a:srgbClr val="FFC000"/>
                </a:solidFill>
              </a:rPr>
              <a:t>Changelog</a:t>
            </a:r>
            <a:r>
              <a:rPr lang="en-US" dirty="0">
                <a:solidFill>
                  <a:schemeClr val="bg1"/>
                </a:solidFill>
              </a:rPr>
              <a:t>: A history of changes and updates (sometimes linked to a separate file</a:t>
            </a:r>
            <a:r>
              <a:rPr lang="en-US" dirty="0" smtClean="0">
                <a:solidFill>
                  <a:schemeClr val="bg1"/>
                </a:solidFill>
              </a:rPr>
              <a:t>).</a:t>
            </a:r>
            <a:endParaRPr lang="en-US" dirty="0">
              <a:solidFill>
                <a:schemeClr val="bg1"/>
              </a:solidFill>
            </a:endParaRPr>
          </a:p>
        </p:txBody>
      </p:sp>
    </p:spTree>
    <p:extLst>
      <p:ext uri="{BB962C8B-B14F-4D97-AF65-F5344CB8AC3E}">
        <p14:creationId xmlns:p14="http://schemas.microsoft.com/office/powerpoint/2010/main" val="19310866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00B050"/>
                </a:solidFill>
              </a:rPr>
              <a:t>Generate project documentation using GitHub </a:t>
            </a:r>
            <a:r>
              <a:rPr lang="en-US" b="1" dirty="0" smtClean="0">
                <a:solidFill>
                  <a:srgbClr val="00B050"/>
                </a:solidFill>
              </a:rPr>
              <a:t>Copilot</a:t>
            </a:r>
            <a:endParaRPr lang="en-IN" dirty="0">
              <a:solidFill>
                <a:srgbClr val="00B050"/>
              </a:solidFill>
            </a:endParaRPr>
          </a:p>
        </p:txBody>
      </p:sp>
      <p:sp>
        <p:nvSpPr>
          <p:cNvPr id="3" name="Content Placeholder 2"/>
          <p:cNvSpPr>
            <a:spLocks noGrp="1"/>
          </p:cNvSpPr>
          <p:nvPr>
            <p:ph idx="1"/>
          </p:nvPr>
        </p:nvSpPr>
        <p:spPr/>
        <p:txBody>
          <a:bodyPr>
            <a:normAutofit fontScale="92500" lnSpcReduction="20000"/>
          </a:bodyPr>
          <a:lstStyle/>
          <a:p>
            <a:pPr marL="0" indent="0">
              <a:buNone/>
            </a:pPr>
            <a:r>
              <a:rPr lang="en-US" dirty="0">
                <a:solidFill>
                  <a:srgbClr val="FFC000"/>
                </a:solidFill>
              </a:rPr>
              <a:t>Chat view in ask mode: </a:t>
            </a:r>
            <a:endParaRPr lang="en-US" dirty="0" smtClean="0">
              <a:solidFill>
                <a:srgbClr val="FFC000"/>
              </a:solidFill>
            </a:endParaRPr>
          </a:p>
          <a:p>
            <a:pPr marL="0" indent="0">
              <a:buNone/>
            </a:pPr>
            <a:r>
              <a:rPr lang="en-US" dirty="0" smtClean="0">
                <a:solidFill>
                  <a:schemeClr val="bg1"/>
                </a:solidFill>
              </a:rPr>
              <a:t>Use </a:t>
            </a:r>
            <a:r>
              <a:rPr lang="en-US" dirty="0">
                <a:solidFill>
                  <a:schemeClr val="bg1"/>
                </a:solidFill>
              </a:rPr>
              <a:t>the ask mode to analyze the codebase and gain an understanding of the code projects, files, and classes. </a:t>
            </a:r>
            <a:endParaRPr lang="en-US" dirty="0" smtClean="0">
              <a:solidFill>
                <a:schemeClr val="bg1"/>
              </a:solidFill>
            </a:endParaRPr>
          </a:p>
          <a:p>
            <a:pPr marL="0" indent="0">
              <a:buNone/>
            </a:pPr>
            <a:r>
              <a:rPr lang="en-US" dirty="0" smtClean="0">
                <a:solidFill>
                  <a:schemeClr val="bg1"/>
                </a:solidFill>
              </a:rPr>
              <a:t>Use </a:t>
            </a:r>
            <a:r>
              <a:rPr lang="en-US" dirty="0">
                <a:solidFill>
                  <a:schemeClr val="bg1"/>
                </a:solidFill>
              </a:rPr>
              <a:t>ask mode to preview suggested project documentation. </a:t>
            </a:r>
            <a:endParaRPr lang="en-US" dirty="0" smtClean="0">
              <a:solidFill>
                <a:schemeClr val="bg1"/>
              </a:solidFill>
            </a:endParaRPr>
          </a:p>
          <a:p>
            <a:pPr marL="0" indent="0">
              <a:buNone/>
            </a:pPr>
            <a:r>
              <a:rPr lang="en-US" dirty="0" smtClean="0">
                <a:solidFill>
                  <a:schemeClr val="bg1"/>
                </a:solidFill>
              </a:rPr>
              <a:t>Review </a:t>
            </a:r>
            <a:r>
              <a:rPr lang="en-US" dirty="0">
                <a:solidFill>
                  <a:schemeClr val="bg1"/>
                </a:solidFill>
              </a:rPr>
              <a:t>suggestions and request updates or other details as needed. </a:t>
            </a:r>
            <a:endParaRPr lang="en-US" dirty="0" smtClean="0">
              <a:solidFill>
                <a:schemeClr val="bg1"/>
              </a:solidFill>
            </a:endParaRPr>
          </a:p>
          <a:p>
            <a:pPr marL="0" indent="0">
              <a:buNone/>
            </a:pPr>
            <a:r>
              <a:rPr lang="en-US" dirty="0" smtClean="0">
                <a:solidFill>
                  <a:schemeClr val="bg1"/>
                </a:solidFill>
              </a:rPr>
              <a:t>Insert </a:t>
            </a:r>
            <a:r>
              <a:rPr lang="en-US" dirty="0">
                <a:solidFill>
                  <a:schemeClr val="bg1"/>
                </a:solidFill>
              </a:rPr>
              <a:t>the suggested documentation into a project documentation file (README.md).</a:t>
            </a:r>
          </a:p>
          <a:p>
            <a:endParaRPr lang="en-IN" dirty="0">
              <a:solidFill>
                <a:schemeClr val="bg1"/>
              </a:solidFill>
            </a:endParaRPr>
          </a:p>
        </p:txBody>
      </p:sp>
    </p:spTree>
    <p:extLst>
      <p:ext uri="{BB962C8B-B14F-4D97-AF65-F5344CB8AC3E}">
        <p14:creationId xmlns:p14="http://schemas.microsoft.com/office/powerpoint/2010/main" val="46995311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solidFill>
                  <a:srgbClr val="00B050"/>
                </a:solidFill>
              </a:rPr>
              <a:t>Ask mode  example</a:t>
            </a:r>
            <a:endParaRPr lang="en-IN" dirty="0">
              <a:solidFill>
                <a:srgbClr val="00B050"/>
              </a:solidFill>
            </a:endParaRPr>
          </a:p>
        </p:txBody>
      </p:sp>
      <p:sp>
        <p:nvSpPr>
          <p:cNvPr id="3" name="Content Placeholder 2"/>
          <p:cNvSpPr>
            <a:spLocks noGrp="1"/>
          </p:cNvSpPr>
          <p:nvPr>
            <p:ph idx="1"/>
          </p:nvPr>
        </p:nvSpPr>
        <p:spPr/>
        <p:txBody>
          <a:bodyPr/>
          <a:lstStyle/>
          <a:p>
            <a:r>
              <a:rPr lang="en-US" dirty="0" smtClean="0">
                <a:solidFill>
                  <a:srgbClr val="FFC000"/>
                </a:solidFill>
              </a:rPr>
              <a:t>“/</a:t>
            </a:r>
            <a:r>
              <a:rPr lang="en-US" dirty="0">
                <a:solidFill>
                  <a:srgbClr val="FFC000"/>
                </a:solidFill>
              </a:rPr>
              <a:t>explain </a:t>
            </a:r>
            <a:r>
              <a:rPr lang="en-US" dirty="0">
                <a:solidFill>
                  <a:schemeClr val="bg1"/>
                </a:solidFill>
              </a:rPr>
              <a:t>I need help creating a README file that can be used in the GitHub repository for this workspace. The file should be formatted as markdown. The README file needs to include the following sections: Project Title, Description, Table of Contents, Installation, Usage, Features, Configuration, and License."</a:t>
            </a:r>
            <a:endParaRPr lang="en-IN" dirty="0">
              <a:solidFill>
                <a:schemeClr val="bg1"/>
              </a:solidFill>
            </a:endParaRPr>
          </a:p>
        </p:txBody>
      </p:sp>
    </p:spTree>
    <p:extLst>
      <p:ext uri="{BB962C8B-B14F-4D97-AF65-F5344CB8AC3E}">
        <p14:creationId xmlns:p14="http://schemas.microsoft.com/office/powerpoint/2010/main" val="59910989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00B050"/>
                </a:solidFill>
              </a:rPr>
              <a:t>Generate project documentation using GitHub </a:t>
            </a:r>
            <a:r>
              <a:rPr lang="en-US" b="1" dirty="0" smtClean="0">
                <a:solidFill>
                  <a:srgbClr val="00B050"/>
                </a:solidFill>
              </a:rPr>
              <a:t>Copilot</a:t>
            </a:r>
            <a:endParaRPr lang="en-IN" dirty="0">
              <a:solidFill>
                <a:srgbClr val="00B050"/>
              </a:solidFill>
            </a:endParaRPr>
          </a:p>
        </p:txBody>
      </p:sp>
      <p:sp>
        <p:nvSpPr>
          <p:cNvPr id="3" name="Content Placeholder 2"/>
          <p:cNvSpPr>
            <a:spLocks noGrp="1"/>
          </p:cNvSpPr>
          <p:nvPr>
            <p:ph idx="1"/>
          </p:nvPr>
        </p:nvSpPr>
        <p:spPr/>
        <p:txBody>
          <a:bodyPr>
            <a:normAutofit lnSpcReduction="10000"/>
          </a:bodyPr>
          <a:lstStyle/>
          <a:p>
            <a:pPr marL="0" indent="0">
              <a:buNone/>
            </a:pPr>
            <a:r>
              <a:rPr lang="en-US" dirty="0">
                <a:solidFill>
                  <a:srgbClr val="FFC000"/>
                </a:solidFill>
              </a:rPr>
              <a:t>Chat view in </a:t>
            </a:r>
            <a:r>
              <a:rPr lang="en-US" dirty="0" smtClean="0">
                <a:solidFill>
                  <a:srgbClr val="FFC000"/>
                </a:solidFill>
              </a:rPr>
              <a:t>Agent </a:t>
            </a:r>
            <a:r>
              <a:rPr lang="en-US" dirty="0">
                <a:solidFill>
                  <a:srgbClr val="FFC000"/>
                </a:solidFill>
              </a:rPr>
              <a:t>mode: </a:t>
            </a:r>
            <a:endParaRPr lang="en-US" dirty="0" smtClean="0">
              <a:solidFill>
                <a:srgbClr val="FFC000"/>
              </a:solidFill>
            </a:endParaRPr>
          </a:p>
          <a:p>
            <a:r>
              <a:rPr lang="en-IN" dirty="0" smtClean="0">
                <a:solidFill>
                  <a:schemeClr val="bg1"/>
                </a:solidFill>
              </a:rPr>
              <a:t>Generate </a:t>
            </a:r>
            <a:r>
              <a:rPr lang="en-IN" dirty="0">
                <a:solidFill>
                  <a:schemeClr val="bg1"/>
                </a:solidFill>
              </a:rPr>
              <a:t>a project documentation file (README.md</a:t>
            </a:r>
            <a:r>
              <a:rPr lang="en-IN" dirty="0" smtClean="0">
                <a:solidFill>
                  <a:schemeClr val="bg1"/>
                </a:solidFill>
              </a:rPr>
              <a:t>).</a:t>
            </a:r>
          </a:p>
          <a:p>
            <a:r>
              <a:rPr lang="en-US" dirty="0" smtClean="0">
                <a:solidFill>
                  <a:schemeClr val="bg1"/>
                </a:solidFill>
              </a:rPr>
              <a:t>Agent </a:t>
            </a:r>
            <a:r>
              <a:rPr lang="en-US" dirty="0">
                <a:solidFill>
                  <a:schemeClr val="bg1"/>
                </a:solidFill>
              </a:rPr>
              <a:t>mode is best for making changes to specific files in the project. </a:t>
            </a:r>
            <a:endParaRPr lang="en-US" dirty="0" smtClean="0">
              <a:solidFill>
                <a:schemeClr val="bg1"/>
              </a:solidFill>
            </a:endParaRPr>
          </a:p>
          <a:p>
            <a:r>
              <a:rPr lang="en-US" dirty="0" smtClean="0">
                <a:solidFill>
                  <a:schemeClr val="bg1"/>
                </a:solidFill>
              </a:rPr>
              <a:t>The Agent </a:t>
            </a:r>
            <a:r>
              <a:rPr lang="en-US" dirty="0">
                <a:solidFill>
                  <a:schemeClr val="bg1"/>
                </a:solidFill>
              </a:rPr>
              <a:t>mode can be used to generate project documentation by adding context files to the chat and then creating or updating documentation files.</a:t>
            </a:r>
            <a:endParaRPr lang="en-IN" dirty="0">
              <a:solidFill>
                <a:schemeClr val="bg1"/>
              </a:solidFill>
            </a:endParaRPr>
          </a:p>
        </p:txBody>
      </p:sp>
    </p:spTree>
    <p:extLst>
      <p:ext uri="{BB962C8B-B14F-4D97-AF65-F5344CB8AC3E}">
        <p14:creationId xmlns:p14="http://schemas.microsoft.com/office/powerpoint/2010/main" val="303038691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solidFill>
                  <a:srgbClr val="00B050"/>
                </a:solidFill>
              </a:rPr>
              <a:t>Agent mode  </a:t>
            </a:r>
            <a:r>
              <a:rPr lang="en-IN" dirty="0">
                <a:solidFill>
                  <a:srgbClr val="00B050"/>
                </a:solidFill>
              </a:rPr>
              <a:t>example</a:t>
            </a:r>
            <a:endParaRPr lang="en-IN" dirty="0"/>
          </a:p>
        </p:txBody>
      </p:sp>
      <p:sp>
        <p:nvSpPr>
          <p:cNvPr id="3" name="Content Placeholder 2"/>
          <p:cNvSpPr>
            <a:spLocks noGrp="1"/>
          </p:cNvSpPr>
          <p:nvPr>
            <p:ph idx="1"/>
          </p:nvPr>
        </p:nvSpPr>
        <p:spPr/>
        <p:txBody>
          <a:bodyPr/>
          <a:lstStyle/>
          <a:p>
            <a:r>
              <a:rPr lang="en-US" dirty="0" smtClean="0">
                <a:solidFill>
                  <a:schemeClr val="bg1"/>
                </a:solidFill>
              </a:rPr>
              <a:t>"I </a:t>
            </a:r>
            <a:r>
              <a:rPr lang="en-US" dirty="0">
                <a:solidFill>
                  <a:schemeClr val="bg1"/>
                </a:solidFill>
              </a:rPr>
              <a:t>need to create a README file that can be used for the GitHub repository. The file should be formatted as markdown. Create a README.md file in the root workspace folder. The README file needs to include the following sections: Project Title, Description, Table of Contents, Installation, Usage, Features, Configuration, and License."</a:t>
            </a:r>
            <a:endParaRPr lang="en-IN" dirty="0">
              <a:solidFill>
                <a:schemeClr val="bg1"/>
              </a:solidFill>
            </a:endParaRPr>
          </a:p>
        </p:txBody>
      </p:sp>
    </p:spTree>
    <p:extLst>
      <p:ext uri="{BB962C8B-B14F-4D97-AF65-F5344CB8AC3E}">
        <p14:creationId xmlns:p14="http://schemas.microsoft.com/office/powerpoint/2010/main" val="193616391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00B050"/>
                </a:solidFill>
              </a:rPr>
              <a:t>Generate project documentation using GitHub </a:t>
            </a:r>
            <a:r>
              <a:rPr lang="en-US" b="1" dirty="0" smtClean="0">
                <a:solidFill>
                  <a:srgbClr val="00B050"/>
                </a:solidFill>
              </a:rPr>
              <a:t>Copilot</a:t>
            </a:r>
            <a:endParaRPr lang="en-IN" dirty="0">
              <a:solidFill>
                <a:srgbClr val="00B050"/>
              </a:solidFill>
            </a:endParaRPr>
          </a:p>
        </p:txBody>
      </p:sp>
      <p:sp>
        <p:nvSpPr>
          <p:cNvPr id="3" name="Content Placeholder 2"/>
          <p:cNvSpPr>
            <a:spLocks noGrp="1"/>
          </p:cNvSpPr>
          <p:nvPr>
            <p:ph idx="1"/>
          </p:nvPr>
        </p:nvSpPr>
        <p:spPr/>
        <p:txBody>
          <a:bodyPr/>
          <a:lstStyle/>
          <a:p>
            <a:pPr marL="0" indent="0">
              <a:buNone/>
            </a:pPr>
            <a:r>
              <a:rPr lang="en-US" dirty="0">
                <a:solidFill>
                  <a:srgbClr val="FFC000"/>
                </a:solidFill>
              </a:rPr>
              <a:t>Chat view in </a:t>
            </a:r>
            <a:r>
              <a:rPr lang="en-US" dirty="0" smtClean="0">
                <a:solidFill>
                  <a:srgbClr val="FFC000"/>
                </a:solidFill>
              </a:rPr>
              <a:t>agent </a:t>
            </a:r>
            <a:r>
              <a:rPr lang="en-US" dirty="0">
                <a:solidFill>
                  <a:srgbClr val="FFC000"/>
                </a:solidFill>
              </a:rPr>
              <a:t>mode: </a:t>
            </a:r>
            <a:r>
              <a:rPr lang="en-US" dirty="0">
                <a:solidFill>
                  <a:schemeClr val="bg1"/>
                </a:solidFill>
              </a:rPr>
              <a:t>Generate a collection of project documentation files: create/update the README.md, create/update the UsageExamples.md, and create/update the ChangeLog.md. </a:t>
            </a:r>
            <a:endParaRPr lang="en-US" dirty="0" smtClean="0">
              <a:solidFill>
                <a:schemeClr val="bg1"/>
              </a:solidFill>
            </a:endParaRPr>
          </a:p>
          <a:p>
            <a:pPr marL="0" indent="0">
              <a:buNone/>
            </a:pPr>
            <a:r>
              <a:rPr lang="en-US" dirty="0" smtClean="0">
                <a:solidFill>
                  <a:schemeClr val="bg1"/>
                </a:solidFill>
              </a:rPr>
              <a:t>Include </a:t>
            </a:r>
            <a:r>
              <a:rPr lang="en-US" dirty="0">
                <a:solidFill>
                  <a:schemeClr val="bg1"/>
                </a:solidFill>
              </a:rPr>
              <a:t>links between the documentation files, cross-reference classes and methods, and ensure consistency across docs.</a:t>
            </a:r>
            <a:endParaRPr lang="en-IN" dirty="0">
              <a:solidFill>
                <a:schemeClr val="bg1"/>
              </a:solidFill>
            </a:endParaRPr>
          </a:p>
        </p:txBody>
      </p:sp>
    </p:spTree>
    <p:extLst>
      <p:ext uri="{BB962C8B-B14F-4D97-AF65-F5344CB8AC3E}">
        <p14:creationId xmlns:p14="http://schemas.microsoft.com/office/powerpoint/2010/main" val="250611573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solidFill>
                  <a:srgbClr val="00B050"/>
                </a:solidFill>
              </a:rPr>
              <a:t>Agent mode  </a:t>
            </a:r>
            <a:r>
              <a:rPr lang="en-IN" dirty="0">
                <a:solidFill>
                  <a:srgbClr val="00B050"/>
                </a:solidFill>
              </a:rPr>
              <a:t>example</a:t>
            </a:r>
            <a:endParaRPr lang="en-IN" dirty="0"/>
          </a:p>
        </p:txBody>
      </p:sp>
      <p:sp>
        <p:nvSpPr>
          <p:cNvPr id="3" name="Content Placeholder 2"/>
          <p:cNvSpPr>
            <a:spLocks noGrp="1"/>
          </p:cNvSpPr>
          <p:nvPr>
            <p:ph idx="1"/>
          </p:nvPr>
        </p:nvSpPr>
        <p:spPr/>
        <p:txBody>
          <a:bodyPr/>
          <a:lstStyle/>
          <a:p>
            <a:r>
              <a:rPr lang="en-US" dirty="0">
                <a:solidFill>
                  <a:schemeClr val="bg1"/>
                </a:solidFill>
              </a:rPr>
              <a:t>"Generate a collection of project documentation files. Create or update the workspace README.md file for this repository. Create or update the UsageExamples.md file. Create or update the ChangeLog.md file. Include links between the documentation files, cross-reference classes and methods, and ensure consistency across the documents."</a:t>
            </a:r>
            <a:endParaRPr lang="en-IN" dirty="0">
              <a:solidFill>
                <a:schemeClr val="bg1"/>
              </a:solidFill>
            </a:endParaRPr>
          </a:p>
        </p:txBody>
      </p:sp>
    </p:spTree>
    <p:extLst>
      <p:ext uri="{BB962C8B-B14F-4D97-AF65-F5344CB8AC3E}">
        <p14:creationId xmlns:p14="http://schemas.microsoft.com/office/powerpoint/2010/main" val="261213490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574032"/>
            <a:ext cx="8229600" cy="1143000"/>
          </a:xfrm>
        </p:spPr>
        <p:txBody>
          <a:bodyPr/>
          <a:lstStyle/>
          <a:p>
            <a:r>
              <a:rPr lang="en-IN" b="1" dirty="0">
                <a:solidFill>
                  <a:schemeClr val="bg1"/>
                </a:solidFill>
              </a:rPr>
              <a:t>GitHub </a:t>
            </a:r>
            <a:r>
              <a:rPr lang="en-IN" b="1" dirty="0" err="1">
                <a:solidFill>
                  <a:schemeClr val="bg1"/>
                </a:solidFill>
              </a:rPr>
              <a:t>Copilot</a:t>
            </a:r>
            <a:r>
              <a:rPr lang="en-IN" b="1" dirty="0">
                <a:solidFill>
                  <a:schemeClr val="bg1"/>
                </a:solidFill>
              </a:rPr>
              <a:t> plans</a:t>
            </a:r>
            <a:endParaRPr lang="en-IN" dirty="0">
              <a:solidFill>
                <a:schemeClr val="bg1"/>
              </a:solidFill>
            </a:endParaRPr>
          </a:p>
        </p:txBody>
      </p:sp>
    </p:spTree>
    <p:extLst>
      <p:ext uri="{BB962C8B-B14F-4D97-AF65-F5344CB8AC3E}">
        <p14:creationId xmlns:p14="http://schemas.microsoft.com/office/powerpoint/2010/main" val="312556619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9392"/>
            <a:ext cx="8229600" cy="1143000"/>
          </a:xfrm>
        </p:spPr>
        <p:txBody>
          <a:bodyPr/>
          <a:lstStyle/>
          <a:p>
            <a:r>
              <a:rPr lang="en-IN" b="1" dirty="0">
                <a:solidFill>
                  <a:srgbClr val="00B050"/>
                </a:solidFill>
              </a:rPr>
              <a:t>GitHub </a:t>
            </a:r>
            <a:r>
              <a:rPr lang="en-IN" b="1" dirty="0" err="1">
                <a:solidFill>
                  <a:srgbClr val="00B050"/>
                </a:solidFill>
              </a:rPr>
              <a:t>Copilot</a:t>
            </a:r>
            <a:r>
              <a:rPr lang="en-IN" b="1" dirty="0">
                <a:solidFill>
                  <a:srgbClr val="00B050"/>
                </a:solidFill>
              </a:rPr>
              <a:t> plans</a:t>
            </a:r>
            <a:endParaRPr lang="en-IN" dirty="0">
              <a:solidFill>
                <a:srgbClr val="00B050"/>
              </a:solidFill>
            </a:endParaRPr>
          </a:p>
        </p:txBody>
      </p:sp>
      <p:sp>
        <p:nvSpPr>
          <p:cNvPr id="3" name="Content Placeholder 2"/>
          <p:cNvSpPr>
            <a:spLocks noGrp="1"/>
          </p:cNvSpPr>
          <p:nvPr>
            <p:ph idx="1"/>
          </p:nvPr>
        </p:nvSpPr>
        <p:spPr>
          <a:xfrm>
            <a:off x="457200" y="836712"/>
            <a:ext cx="8229600" cy="2232248"/>
          </a:xfrm>
        </p:spPr>
        <p:txBody>
          <a:bodyPr/>
          <a:lstStyle/>
          <a:p>
            <a:r>
              <a:rPr lang="en-US" dirty="0">
                <a:solidFill>
                  <a:schemeClr val="bg1"/>
                </a:solidFill>
              </a:rPr>
              <a:t>Every developer and organization has specific needs. That's why GitHub Copilot has several pricing plans</a:t>
            </a:r>
            <a:r>
              <a:rPr lang="en-US" dirty="0" smtClean="0">
                <a:solidFill>
                  <a:schemeClr val="bg1"/>
                </a:solidFill>
              </a:rPr>
              <a:t>.</a:t>
            </a:r>
          </a:p>
          <a:p>
            <a:r>
              <a:rPr lang="en-IN" dirty="0">
                <a:solidFill>
                  <a:srgbClr val="FFC000"/>
                </a:solidFill>
              </a:rPr>
              <a:t>Available GitHub </a:t>
            </a:r>
            <a:r>
              <a:rPr lang="en-IN" dirty="0" err="1">
                <a:solidFill>
                  <a:srgbClr val="FFC000"/>
                </a:solidFill>
              </a:rPr>
              <a:t>Copilot</a:t>
            </a:r>
            <a:r>
              <a:rPr lang="en-IN" dirty="0">
                <a:solidFill>
                  <a:srgbClr val="FFC000"/>
                </a:solidFill>
              </a:rPr>
              <a:t> </a:t>
            </a:r>
            <a:r>
              <a:rPr lang="en-IN" dirty="0" smtClean="0">
                <a:solidFill>
                  <a:srgbClr val="FFC000"/>
                </a:solidFill>
              </a:rPr>
              <a:t>plans:</a:t>
            </a:r>
          </a:p>
          <a:p>
            <a:endParaRPr lang="en-IN" dirty="0">
              <a:solidFill>
                <a:schemeClr val="bg1"/>
              </a:solidFill>
            </a:endParaRPr>
          </a:p>
        </p:txBody>
      </p:sp>
      <p:pic>
        <p:nvPicPr>
          <p:cNvPr id="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0" y="2996952"/>
            <a:ext cx="8697885" cy="3697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7796052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423317"/>
            <a:ext cx="8229600" cy="4525963"/>
          </a:xfrm>
        </p:spPr>
        <p:txBody>
          <a:bodyPr/>
          <a:lstStyle/>
          <a:p>
            <a:pPr marL="0" indent="0">
              <a:buNone/>
            </a:pPr>
            <a:r>
              <a:rPr lang="en-US" dirty="0">
                <a:solidFill>
                  <a:schemeClr val="bg1"/>
                </a:solidFill>
              </a:rPr>
              <a:t>When you're selecting a GitHub Copilot pricing plan, you and your organization should consider these key </a:t>
            </a:r>
            <a:r>
              <a:rPr lang="en-US" dirty="0" smtClean="0">
                <a:solidFill>
                  <a:schemeClr val="bg1"/>
                </a:solidFill>
              </a:rPr>
              <a:t>factors:</a:t>
            </a:r>
          </a:p>
          <a:p>
            <a:pPr lvl="1"/>
            <a:r>
              <a:rPr lang="en-IN" b="1" dirty="0">
                <a:solidFill>
                  <a:srgbClr val="FFC000"/>
                </a:solidFill>
              </a:rPr>
              <a:t>Data privacy and </a:t>
            </a:r>
            <a:r>
              <a:rPr lang="en-IN" b="1" dirty="0" smtClean="0">
                <a:solidFill>
                  <a:srgbClr val="FFC000"/>
                </a:solidFill>
              </a:rPr>
              <a:t>security</a:t>
            </a:r>
          </a:p>
          <a:p>
            <a:pPr lvl="1"/>
            <a:r>
              <a:rPr lang="en-IN" b="1" dirty="0">
                <a:solidFill>
                  <a:srgbClr val="FFC000"/>
                </a:solidFill>
              </a:rPr>
              <a:t>Policy </a:t>
            </a:r>
            <a:r>
              <a:rPr lang="en-IN" b="1" dirty="0" smtClean="0">
                <a:solidFill>
                  <a:srgbClr val="FFC000"/>
                </a:solidFill>
              </a:rPr>
              <a:t>management</a:t>
            </a:r>
          </a:p>
          <a:p>
            <a:pPr lvl="1"/>
            <a:r>
              <a:rPr lang="en-IN" b="1" dirty="0">
                <a:solidFill>
                  <a:srgbClr val="FFC000"/>
                </a:solidFill>
              </a:rPr>
              <a:t>Data collection and </a:t>
            </a:r>
            <a:r>
              <a:rPr lang="en-IN" b="1" dirty="0" smtClean="0">
                <a:solidFill>
                  <a:srgbClr val="FFC000"/>
                </a:solidFill>
              </a:rPr>
              <a:t>retention</a:t>
            </a:r>
          </a:p>
          <a:p>
            <a:pPr lvl="1"/>
            <a:r>
              <a:rPr lang="en-US" b="1" dirty="0">
                <a:solidFill>
                  <a:srgbClr val="FFC000"/>
                </a:solidFill>
              </a:rPr>
              <a:t>IP indemnity and data privacy</a:t>
            </a:r>
            <a:endParaRPr lang="en-IN" dirty="0">
              <a:solidFill>
                <a:srgbClr val="FFC000"/>
              </a:solidFill>
            </a:endParaRPr>
          </a:p>
        </p:txBody>
      </p:sp>
      <p:sp>
        <p:nvSpPr>
          <p:cNvPr id="4" name="Title 1"/>
          <p:cNvSpPr>
            <a:spLocks noGrp="1"/>
          </p:cNvSpPr>
          <p:nvPr>
            <p:ph type="title"/>
          </p:nvPr>
        </p:nvSpPr>
        <p:spPr>
          <a:xfrm>
            <a:off x="457200" y="274638"/>
            <a:ext cx="8229600" cy="1143000"/>
          </a:xfrm>
        </p:spPr>
        <p:txBody>
          <a:bodyPr/>
          <a:lstStyle/>
          <a:p>
            <a:r>
              <a:rPr lang="en-IN" b="1" dirty="0">
                <a:solidFill>
                  <a:srgbClr val="00B050"/>
                </a:solidFill>
              </a:rPr>
              <a:t>GitHub </a:t>
            </a:r>
            <a:r>
              <a:rPr lang="en-IN" b="1" dirty="0" err="1">
                <a:solidFill>
                  <a:srgbClr val="00B050"/>
                </a:solidFill>
              </a:rPr>
              <a:t>Copilot</a:t>
            </a:r>
            <a:r>
              <a:rPr lang="en-IN" b="1" dirty="0">
                <a:solidFill>
                  <a:srgbClr val="00B050"/>
                </a:solidFill>
              </a:rPr>
              <a:t> plans</a:t>
            </a:r>
            <a:endParaRPr lang="en-IN" dirty="0">
              <a:solidFill>
                <a:srgbClr val="00B050"/>
              </a:solidFill>
            </a:endParaRPr>
          </a:p>
        </p:txBody>
      </p:sp>
    </p:spTree>
    <p:extLst>
      <p:ext uri="{BB962C8B-B14F-4D97-AF65-F5344CB8AC3E}">
        <p14:creationId xmlns:p14="http://schemas.microsoft.com/office/powerpoint/2010/main" val="29406565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B050"/>
                </a:solidFill>
              </a:rPr>
              <a:t>Data privacy and security</a:t>
            </a:r>
            <a:endParaRPr lang="en-IN" dirty="0">
              <a:solidFill>
                <a:srgbClr val="00B050"/>
              </a:solidFill>
            </a:endParaRPr>
          </a:p>
        </p:txBody>
      </p:sp>
      <p:sp>
        <p:nvSpPr>
          <p:cNvPr id="3" name="Content Placeholder 2"/>
          <p:cNvSpPr>
            <a:spLocks noGrp="1"/>
          </p:cNvSpPr>
          <p:nvPr>
            <p:ph idx="1"/>
          </p:nvPr>
        </p:nvSpPr>
        <p:spPr/>
        <p:txBody>
          <a:bodyPr>
            <a:normAutofit lnSpcReduction="10000"/>
          </a:bodyPr>
          <a:lstStyle/>
          <a:p>
            <a:r>
              <a:rPr lang="en-US" dirty="0" smtClean="0">
                <a:solidFill>
                  <a:schemeClr val="bg1"/>
                </a:solidFill>
              </a:rPr>
              <a:t>The </a:t>
            </a:r>
            <a:r>
              <a:rPr lang="en-US" dirty="0">
                <a:solidFill>
                  <a:schemeClr val="bg1"/>
                </a:solidFill>
              </a:rPr>
              <a:t>plans offer varying levels of data privacy and security measures. </a:t>
            </a:r>
            <a:endParaRPr lang="en-US" dirty="0" smtClean="0">
              <a:solidFill>
                <a:schemeClr val="bg1"/>
              </a:solidFill>
            </a:endParaRPr>
          </a:p>
          <a:p>
            <a:r>
              <a:rPr lang="en-US" dirty="0" smtClean="0">
                <a:solidFill>
                  <a:schemeClr val="bg1"/>
                </a:solidFill>
              </a:rPr>
              <a:t>For </a:t>
            </a:r>
            <a:r>
              <a:rPr lang="en-US" dirty="0">
                <a:solidFill>
                  <a:schemeClr val="bg1"/>
                </a:solidFill>
              </a:rPr>
              <a:t>instance, GitHub Copilot Business and Enterprise are the only plans that provide more robust privacy controls. </a:t>
            </a:r>
            <a:endParaRPr lang="en-US" dirty="0" smtClean="0">
              <a:solidFill>
                <a:schemeClr val="bg1"/>
              </a:solidFill>
            </a:endParaRPr>
          </a:p>
          <a:p>
            <a:r>
              <a:rPr lang="en-US" dirty="0" smtClean="0">
                <a:solidFill>
                  <a:schemeClr val="bg1"/>
                </a:solidFill>
              </a:rPr>
              <a:t>These </a:t>
            </a:r>
            <a:r>
              <a:rPr lang="en-US" dirty="0">
                <a:solidFill>
                  <a:schemeClr val="bg1"/>
                </a:solidFill>
              </a:rPr>
              <a:t>controls include the ability to exclude specific files from GitHub Copilot analysis, access detailed audit logs, and provide IP indemnity.</a:t>
            </a:r>
          </a:p>
          <a:p>
            <a:endParaRPr lang="en-IN" dirty="0"/>
          </a:p>
        </p:txBody>
      </p:sp>
    </p:spTree>
    <p:extLst>
      <p:ext uri="{BB962C8B-B14F-4D97-AF65-F5344CB8AC3E}">
        <p14:creationId xmlns:p14="http://schemas.microsoft.com/office/powerpoint/2010/main" val="18197138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solidFill>
                  <a:srgbClr val="00B050"/>
                </a:solidFill>
              </a:rPr>
              <a:t>Policy </a:t>
            </a:r>
            <a:r>
              <a:rPr lang="en-IN" b="1" dirty="0" smtClean="0">
                <a:solidFill>
                  <a:srgbClr val="00B050"/>
                </a:solidFill>
              </a:rPr>
              <a:t>management</a:t>
            </a:r>
            <a:endParaRPr lang="en-IN" dirty="0">
              <a:solidFill>
                <a:srgbClr val="00B050"/>
              </a:solidFill>
            </a:endParaRPr>
          </a:p>
        </p:txBody>
      </p:sp>
      <p:sp>
        <p:nvSpPr>
          <p:cNvPr id="3" name="Content Placeholder 2"/>
          <p:cNvSpPr>
            <a:spLocks noGrp="1"/>
          </p:cNvSpPr>
          <p:nvPr>
            <p:ph idx="1"/>
          </p:nvPr>
        </p:nvSpPr>
        <p:spPr/>
        <p:txBody>
          <a:bodyPr/>
          <a:lstStyle/>
          <a:p>
            <a:r>
              <a:rPr lang="en-US" dirty="0">
                <a:solidFill>
                  <a:schemeClr val="bg1"/>
                </a:solidFill>
              </a:rPr>
              <a:t>The ability to manage Copilot policies at an organizational level is crucial. </a:t>
            </a:r>
            <a:endParaRPr lang="en-US" dirty="0" smtClean="0">
              <a:solidFill>
                <a:schemeClr val="bg1"/>
              </a:solidFill>
            </a:endParaRPr>
          </a:p>
          <a:p>
            <a:r>
              <a:rPr lang="en-US" dirty="0" smtClean="0">
                <a:solidFill>
                  <a:schemeClr val="bg1"/>
                </a:solidFill>
              </a:rPr>
              <a:t>Business </a:t>
            </a:r>
            <a:r>
              <a:rPr lang="en-US" dirty="0">
                <a:solidFill>
                  <a:schemeClr val="bg1"/>
                </a:solidFill>
              </a:rPr>
              <a:t>and Enterprise plans allow for comprehensive policy management, to help ensure that sensitive data is handled according to the organization's privacy policies.</a:t>
            </a:r>
            <a:endParaRPr lang="en-IN" dirty="0">
              <a:solidFill>
                <a:schemeClr val="bg1"/>
              </a:solidFill>
            </a:endParaRPr>
          </a:p>
        </p:txBody>
      </p:sp>
    </p:spTree>
    <p:extLst>
      <p:ext uri="{BB962C8B-B14F-4D97-AF65-F5344CB8AC3E}">
        <p14:creationId xmlns:p14="http://schemas.microsoft.com/office/powerpoint/2010/main" val="204602787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solidFill>
                  <a:srgbClr val="00B050"/>
                </a:solidFill>
              </a:rPr>
              <a:t>Data collection and retention</a:t>
            </a:r>
            <a:endParaRPr lang="en-IN" dirty="0">
              <a:solidFill>
                <a:srgbClr val="00B050"/>
              </a:solidFill>
            </a:endParaRPr>
          </a:p>
        </p:txBody>
      </p:sp>
      <p:sp>
        <p:nvSpPr>
          <p:cNvPr id="3" name="Content Placeholder 2"/>
          <p:cNvSpPr>
            <a:spLocks noGrp="1"/>
          </p:cNvSpPr>
          <p:nvPr>
            <p:ph idx="1"/>
          </p:nvPr>
        </p:nvSpPr>
        <p:spPr/>
        <p:txBody>
          <a:bodyPr/>
          <a:lstStyle/>
          <a:p>
            <a:r>
              <a:rPr lang="en-US" dirty="0">
                <a:solidFill>
                  <a:schemeClr val="bg1"/>
                </a:solidFill>
              </a:rPr>
              <a:t>Understanding how data is collected and retained is essential for compliance with data privacy regulations. </a:t>
            </a:r>
            <a:endParaRPr lang="en-US" dirty="0" smtClean="0">
              <a:solidFill>
                <a:schemeClr val="bg1"/>
              </a:solidFill>
            </a:endParaRPr>
          </a:p>
          <a:p>
            <a:r>
              <a:rPr lang="en-US" dirty="0" smtClean="0">
                <a:solidFill>
                  <a:schemeClr val="bg1"/>
                </a:solidFill>
              </a:rPr>
              <a:t>Individual </a:t>
            </a:r>
            <a:r>
              <a:rPr lang="en-US" dirty="0">
                <a:solidFill>
                  <a:schemeClr val="bg1"/>
                </a:solidFill>
              </a:rPr>
              <a:t>subscribers can choose whether GitHub collects and retains their prompts and Copilot suggestions.</a:t>
            </a:r>
            <a:endParaRPr lang="en-IN" dirty="0">
              <a:solidFill>
                <a:schemeClr val="bg1"/>
              </a:solidFill>
            </a:endParaRPr>
          </a:p>
        </p:txBody>
      </p:sp>
    </p:spTree>
    <p:extLst>
      <p:ext uri="{BB962C8B-B14F-4D97-AF65-F5344CB8AC3E}">
        <p14:creationId xmlns:p14="http://schemas.microsoft.com/office/powerpoint/2010/main" val="242827529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B050"/>
                </a:solidFill>
              </a:rPr>
              <a:t>IP indemnity and data privacy</a:t>
            </a:r>
            <a:endParaRPr lang="en-IN" dirty="0">
              <a:solidFill>
                <a:srgbClr val="00B050"/>
              </a:solidFill>
            </a:endParaRPr>
          </a:p>
        </p:txBody>
      </p:sp>
      <p:sp>
        <p:nvSpPr>
          <p:cNvPr id="3" name="Content Placeholder 2"/>
          <p:cNvSpPr>
            <a:spLocks noGrp="1"/>
          </p:cNvSpPr>
          <p:nvPr>
            <p:ph idx="1"/>
          </p:nvPr>
        </p:nvSpPr>
        <p:spPr/>
        <p:txBody>
          <a:bodyPr/>
          <a:lstStyle/>
          <a:p>
            <a:r>
              <a:rPr lang="en-US" dirty="0">
                <a:solidFill>
                  <a:schemeClr val="bg1"/>
                </a:solidFill>
              </a:rPr>
              <a:t>For businesses and enterprises, IP indemnity and data privacy are critical to avoiding legal, security, and customer issues. </a:t>
            </a:r>
            <a:endParaRPr lang="en-US" dirty="0" smtClean="0">
              <a:solidFill>
                <a:schemeClr val="bg1"/>
              </a:solidFill>
            </a:endParaRPr>
          </a:p>
          <a:p>
            <a:r>
              <a:rPr lang="en-US" dirty="0" smtClean="0">
                <a:solidFill>
                  <a:schemeClr val="bg1"/>
                </a:solidFill>
              </a:rPr>
              <a:t>Evaluating </a:t>
            </a:r>
            <a:r>
              <a:rPr lang="en-US" dirty="0">
                <a:solidFill>
                  <a:schemeClr val="bg1"/>
                </a:solidFill>
              </a:rPr>
              <a:t>the need for these features can help determine the most suitable pricing plan for your business.</a:t>
            </a:r>
            <a:endParaRPr lang="en-IN" dirty="0">
              <a:solidFill>
                <a:schemeClr val="bg1"/>
              </a:solidFill>
            </a:endParaRPr>
          </a:p>
        </p:txBody>
      </p:sp>
    </p:spTree>
    <p:extLst>
      <p:ext uri="{BB962C8B-B14F-4D97-AF65-F5344CB8AC3E}">
        <p14:creationId xmlns:p14="http://schemas.microsoft.com/office/powerpoint/2010/main" val="243085642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B050"/>
                </a:solidFill>
              </a:rPr>
              <a:t>IP indemnity</a:t>
            </a:r>
            <a:endParaRPr lang="en-IN" dirty="0">
              <a:solidFill>
                <a:srgbClr val="00B050"/>
              </a:solidFill>
            </a:endParaRPr>
          </a:p>
        </p:txBody>
      </p:sp>
      <p:sp>
        <p:nvSpPr>
          <p:cNvPr id="3" name="Content Placeholder 2"/>
          <p:cNvSpPr>
            <a:spLocks noGrp="1"/>
          </p:cNvSpPr>
          <p:nvPr>
            <p:ph idx="1"/>
          </p:nvPr>
        </p:nvSpPr>
        <p:spPr/>
        <p:txBody>
          <a:bodyPr>
            <a:normAutofit fontScale="92500" lnSpcReduction="10000"/>
          </a:bodyPr>
          <a:lstStyle/>
          <a:p>
            <a:r>
              <a:rPr lang="en-US" dirty="0" smtClean="0">
                <a:solidFill>
                  <a:schemeClr val="bg1"/>
                </a:solidFill>
              </a:rPr>
              <a:t>The </a:t>
            </a:r>
            <a:r>
              <a:rPr lang="en-US" dirty="0">
                <a:solidFill>
                  <a:schemeClr val="bg1"/>
                </a:solidFill>
              </a:rPr>
              <a:t>GitHub Copilot Business and Enterprise plans include IP indemnity, which provides legal protection against intellectual property claims related to the use of Copilot suggestions. </a:t>
            </a:r>
            <a:endParaRPr lang="en-US" dirty="0" smtClean="0">
              <a:solidFill>
                <a:schemeClr val="bg1"/>
              </a:solidFill>
            </a:endParaRPr>
          </a:p>
          <a:p>
            <a:r>
              <a:rPr lang="en-US" dirty="0" smtClean="0">
                <a:solidFill>
                  <a:schemeClr val="bg1"/>
                </a:solidFill>
              </a:rPr>
              <a:t>With </a:t>
            </a:r>
            <a:r>
              <a:rPr lang="en-US" dirty="0">
                <a:solidFill>
                  <a:schemeClr val="bg1"/>
                </a:solidFill>
              </a:rPr>
              <a:t>IP indemnity, if any suggestion from GitHub Copilot is challenged as infringing on third-party IP rights, GitHub assumes legal responsibility. </a:t>
            </a:r>
            <a:endParaRPr lang="en-US" dirty="0" smtClean="0">
              <a:solidFill>
                <a:schemeClr val="bg1"/>
              </a:solidFill>
            </a:endParaRPr>
          </a:p>
          <a:p>
            <a:r>
              <a:rPr lang="en-US" dirty="0" smtClean="0">
                <a:solidFill>
                  <a:schemeClr val="bg1"/>
                </a:solidFill>
              </a:rPr>
              <a:t>For </a:t>
            </a:r>
            <a:r>
              <a:rPr lang="en-US" dirty="0">
                <a:solidFill>
                  <a:schemeClr val="bg1"/>
                </a:solidFill>
              </a:rPr>
              <a:t>GitHub to assume legal responsibility, the </a:t>
            </a:r>
            <a:r>
              <a:rPr lang="en-US" b="1" dirty="0">
                <a:solidFill>
                  <a:schemeClr val="bg1"/>
                </a:solidFill>
              </a:rPr>
              <a:t>Matching public code</a:t>
            </a:r>
            <a:r>
              <a:rPr lang="en-US" dirty="0">
                <a:solidFill>
                  <a:schemeClr val="bg1"/>
                </a:solidFill>
              </a:rPr>
              <a:t> setting must be blocked.</a:t>
            </a:r>
          </a:p>
          <a:p>
            <a:endParaRPr lang="en-IN" dirty="0"/>
          </a:p>
        </p:txBody>
      </p:sp>
    </p:spTree>
    <p:extLst>
      <p:ext uri="{BB962C8B-B14F-4D97-AF65-F5344CB8AC3E}">
        <p14:creationId xmlns:p14="http://schemas.microsoft.com/office/powerpoint/2010/main" val="89577704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B050"/>
                </a:solidFill>
              </a:rPr>
              <a:t>Filtering out matching public </a:t>
            </a:r>
            <a:r>
              <a:rPr lang="en-US" b="1" dirty="0" smtClean="0">
                <a:solidFill>
                  <a:srgbClr val="00B050"/>
                </a:solidFill>
              </a:rPr>
              <a:t>code</a:t>
            </a:r>
            <a:endParaRPr lang="en-IN" dirty="0">
              <a:solidFill>
                <a:srgbClr val="00B050"/>
              </a:solidFill>
            </a:endParaRPr>
          </a:p>
        </p:txBody>
      </p:sp>
      <p:sp>
        <p:nvSpPr>
          <p:cNvPr id="3" name="Content Placeholder 2"/>
          <p:cNvSpPr>
            <a:spLocks noGrp="1"/>
          </p:cNvSpPr>
          <p:nvPr>
            <p:ph idx="1"/>
          </p:nvPr>
        </p:nvSpPr>
        <p:spPr/>
        <p:txBody>
          <a:bodyPr>
            <a:normAutofit lnSpcReduction="10000"/>
          </a:bodyPr>
          <a:lstStyle/>
          <a:p>
            <a:r>
              <a:rPr lang="en-US" dirty="0" smtClean="0">
                <a:solidFill>
                  <a:schemeClr val="bg1"/>
                </a:solidFill>
              </a:rPr>
              <a:t>GitHub </a:t>
            </a:r>
            <a:r>
              <a:rPr lang="en-US" dirty="0">
                <a:solidFill>
                  <a:schemeClr val="bg1"/>
                </a:solidFill>
              </a:rPr>
              <a:t>Copilot can help minimize potential code overlap by identifying and filtering out code suggestions that match publicly available code. </a:t>
            </a:r>
            <a:endParaRPr lang="en-US" dirty="0" smtClean="0">
              <a:solidFill>
                <a:schemeClr val="bg1"/>
              </a:solidFill>
            </a:endParaRPr>
          </a:p>
          <a:p>
            <a:r>
              <a:rPr lang="en-US" dirty="0" smtClean="0">
                <a:solidFill>
                  <a:schemeClr val="bg1"/>
                </a:solidFill>
              </a:rPr>
              <a:t>This </a:t>
            </a:r>
            <a:r>
              <a:rPr lang="en-US" dirty="0">
                <a:solidFill>
                  <a:schemeClr val="bg1"/>
                </a:solidFill>
              </a:rPr>
              <a:t>feature is essential for maintaining the originality and security of your codebase. </a:t>
            </a:r>
            <a:endParaRPr lang="en-US" dirty="0" smtClean="0">
              <a:solidFill>
                <a:schemeClr val="bg1"/>
              </a:solidFill>
            </a:endParaRPr>
          </a:p>
          <a:p>
            <a:r>
              <a:rPr lang="en-US" dirty="0" smtClean="0">
                <a:solidFill>
                  <a:schemeClr val="bg1"/>
                </a:solidFill>
              </a:rPr>
              <a:t>It </a:t>
            </a:r>
            <a:r>
              <a:rPr lang="en-US" dirty="0">
                <a:solidFill>
                  <a:schemeClr val="bg1"/>
                </a:solidFill>
              </a:rPr>
              <a:t>can reduce the risk of incorporating </a:t>
            </a:r>
            <a:r>
              <a:rPr lang="en-US" dirty="0" err="1">
                <a:solidFill>
                  <a:schemeClr val="bg1"/>
                </a:solidFill>
              </a:rPr>
              <a:t>nonsecure</a:t>
            </a:r>
            <a:r>
              <a:rPr lang="en-US" dirty="0">
                <a:solidFill>
                  <a:schemeClr val="bg1"/>
                </a:solidFill>
              </a:rPr>
              <a:t> or noncompliant code into your projects.</a:t>
            </a:r>
          </a:p>
          <a:p>
            <a:endParaRPr lang="en-IN" dirty="0"/>
          </a:p>
        </p:txBody>
      </p:sp>
    </p:spTree>
    <p:extLst>
      <p:ext uri="{BB962C8B-B14F-4D97-AF65-F5344CB8AC3E}">
        <p14:creationId xmlns:p14="http://schemas.microsoft.com/office/powerpoint/2010/main" val="191550609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solidFill>
                  <a:srgbClr val="00B050"/>
                </a:solidFill>
              </a:rPr>
              <a:t>Manage content </a:t>
            </a:r>
            <a:r>
              <a:rPr lang="en-IN" b="1" dirty="0" smtClean="0">
                <a:solidFill>
                  <a:srgbClr val="00B050"/>
                </a:solidFill>
              </a:rPr>
              <a:t>exclusions</a:t>
            </a:r>
            <a:endParaRPr lang="en-IN" dirty="0">
              <a:solidFill>
                <a:srgbClr val="00B050"/>
              </a:solidFill>
            </a:endParaRPr>
          </a:p>
        </p:txBody>
      </p:sp>
      <p:sp>
        <p:nvSpPr>
          <p:cNvPr id="3" name="Content Placeholder 2"/>
          <p:cNvSpPr>
            <a:spLocks noGrp="1"/>
          </p:cNvSpPr>
          <p:nvPr>
            <p:ph idx="1"/>
          </p:nvPr>
        </p:nvSpPr>
        <p:spPr/>
        <p:txBody>
          <a:bodyPr/>
          <a:lstStyle/>
          <a:p>
            <a:r>
              <a:rPr lang="en-US" dirty="0">
                <a:solidFill>
                  <a:schemeClr val="bg1"/>
                </a:solidFill>
              </a:rPr>
              <a:t>The content exclusion feature in GitHub Copilot helps protect sensitive information by preventing the use of specific files, directories, or repositories to inform code-completion suggestions</a:t>
            </a:r>
            <a:r>
              <a:rPr lang="en-US" dirty="0" smtClean="0">
                <a:solidFill>
                  <a:schemeClr val="bg1"/>
                </a:solidFill>
              </a:rPr>
              <a:t>.</a:t>
            </a:r>
          </a:p>
          <a:p>
            <a:pPr lvl="1"/>
            <a:r>
              <a:rPr lang="fr-FR" b="1" dirty="0">
                <a:solidFill>
                  <a:srgbClr val="FFC000"/>
                </a:solidFill>
              </a:rPr>
              <a:t>Configure content exclusions for </a:t>
            </a:r>
            <a:r>
              <a:rPr lang="fr-FR" b="1" dirty="0" err="1">
                <a:solidFill>
                  <a:srgbClr val="FFC000"/>
                </a:solidFill>
              </a:rPr>
              <a:t>repositories</a:t>
            </a:r>
            <a:endParaRPr lang="fr-FR" b="1" dirty="0">
              <a:solidFill>
                <a:srgbClr val="FFC000"/>
              </a:solidFill>
            </a:endParaRPr>
          </a:p>
          <a:p>
            <a:pPr lvl="1"/>
            <a:r>
              <a:rPr lang="en-IN" b="1" dirty="0">
                <a:solidFill>
                  <a:srgbClr val="FFC000"/>
                </a:solidFill>
              </a:rPr>
              <a:t>Configure content exclusions for organizations</a:t>
            </a:r>
          </a:p>
          <a:p>
            <a:endParaRPr lang="en-IN" dirty="0">
              <a:solidFill>
                <a:schemeClr val="bg1"/>
              </a:solidFill>
            </a:endParaRPr>
          </a:p>
        </p:txBody>
      </p:sp>
    </p:spTree>
    <p:extLst>
      <p:ext uri="{BB962C8B-B14F-4D97-AF65-F5344CB8AC3E}">
        <p14:creationId xmlns:p14="http://schemas.microsoft.com/office/powerpoint/2010/main" val="174015140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solidFill>
                  <a:srgbClr val="00B050"/>
                </a:solidFill>
              </a:rPr>
              <a:t>Impact of content exclusion on code </a:t>
            </a:r>
            <a:r>
              <a:rPr lang="en-IN" b="1" dirty="0" smtClean="0">
                <a:solidFill>
                  <a:srgbClr val="00B050"/>
                </a:solidFill>
              </a:rPr>
              <a:t>suggestions</a:t>
            </a:r>
            <a:endParaRPr lang="en-IN" dirty="0">
              <a:solidFill>
                <a:srgbClr val="00B050"/>
              </a:solidFill>
            </a:endParaRPr>
          </a:p>
        </p:txBody>
      </p:sp>
      <p:sp>
        <p:nvSpPr>
          <p:cNvPr id="3" name="Content Placeholder 2"/>
          <p:cNvSpPr>
            <a:spLocks noGrp="1"/>
          </p:cNvSpPr>
          <p:nvPr>
            <p:ph idx="1"/>
          </p:nvPr>
        </p:nvSpPr>
        <p:spPr/>
        <p:txBody>
          <a:bodyPr>
            <a:normAutofit lnSpcReduction="10000"/>
          </a:bodyPr>
          <a:lstStyle/>
          <a:p>
            <a:r>
              <a:rPr lang="en-US" dirty="0">
                <a:solidFill>
                  <a:schemeClr val="bg1"/>
                </a:solidFill>
              </a:rPr>
              <a:t>You can use content exclusions to configure GitHub Copilot to ignore certain files. When you exclude content from GitHub Copilot:</a:t>
            </a:r>
          </a:p>
          <a:p>
            <a:r>
              <a:rPr lang="en-US" dirty="0">
                <a:solidFill>
                  <a:schemeClr val="bg1"/>
                </a:solidFill>
              </a:rPr>
              <a:t>Code completion is no longer available in the affected files.</a:t>
            </a:r>
          </a:p>
          <a:p>
            <a:r>
              <a:rPr lang="en-US" dirty="0">
                <a:solidFill>
                  <a:schemeClr val="bg1"/>
                </a:solidFill>
              </a:rPr>
              <a:t>The content in affected files won't inform code completion suggestions in other files.</a:t>
            </a:r>
          </a:p>
          <a:p>
            <a:r>
              <a:rPr lang="en-US" dirty="0">
                <a:solidFill>
                  <a:schemeClr val="bg1"/>
                </a:solidFill>
              </a:rPr>
              <a:t>The content in affected files won't inform GitHub Copilot Chat responses.</a:t>
            </a:r>
          </a:p>
          <a:p>
            <a:endParaRPr lang="en-IN" dirty="0">
              <a:solidFill>
                <a:schemeClr val="bg1"/>
              </a:solidFill>
            </a:endParaRPr>
          </a:p>
        </p:txBody>
      </p:sp>
    </p:spTree>
    <p:extLst>
      <p:ext uri="{BB962C8B-B14F-4D97-AF65-F5344CB8AC3E}">
        <p14:creationId xmlns:p14="http://schemas.microsoft.com/office/powerpoint/2010/main" val="189781400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solidFill>
                  <a:srgbClr val="00B050"/>
                </a:solidFill>
              </a:rPr>
              <a:t>Impact of content exclusion on code suggestions</a:t>
            </a:r>
            <a:endParaRPr lang="en-IN" dirty="0"/>
          </a:p>
        </p:txBody>
      </p:sp>
      <p:sp>
        <p:nvSpPr>
          <p:cNvPr id="3" name="Content Placeholder 2"/>
          <p:cNvSpPr>
            <a:spLocks noGrp="1"/>
          </p:cNvSpPr>
          <p:nvPr>
            <p:ph idx="1"/>
          </p:nvPr>
        </p:nvSpPr>
        <p:spPr/>
        <p:txBody>
          <a:bodyPr>
            <a:normAutofit fontScale="85000" lnSpcReduction="10000"/>
          </a:bodyPr>
          <a:lstStyle/>
          <a:p>
            <a:r>
              <a:rPr lang="en-US" dirty="0">
                <a:solidFill>
                  <a:schemeClr val="bg1"/>
                </a:solidFill>
              </a:rPr>
              <a:t>Content exclusions can significantly affect the quality and relevance of code suggestions that GitHub Copilot generates. </a:t>
            </a:r>
            <a:endParaRPr lang="en-US" dirty="0" smtClean="0">
              <a:solidFill>
                <a:schemeClr val="bg1"/>
              </a:solidFill>
            </a:endParaRPr>
          </a:p>
          <a:p>
            <a:r>
              <a:rPr lang="en-US" dirty="0" smtClean="0">
                <a:solidFill>
                  <a:schemeClr val="bg1"/>
                </a:solidFill>
              </a:rPr>
              <a:t>When </a:t>
            </a:r>
            <a:r>
              <a:rPr lang="en-US" dirty="0">
                <a:solidFill>
                  <a:schemeClr val="bg1"/>
                </a:solidFill>
              </a:rPr>
              <a:t>you exclude certain files or directories, GitHub Copilot won't use the content in those files to inform its suggestions. </a:t>
            </a:r>
            <a:endParaRPr lang="en-US" dirty="0" smtClean="0">
              <a:solidFill>
                <a:schemeClr val="bg1"/>
              </a:solidFill>
            </a:endParaRPr>
          </a:p>
          <a:p>
            <a:r>
              <a:rPr lang="en-US" dirty="0" smtClean="0">
                <a:solidFill>
                  <a:schemeClr val="bg1"/>
                </a:solidFill>
              </a:rPr>
              <a:t>This </a:t>
            </a:r>
            <a:r>
              <a:rPr lang="en-US" dirty="0">
                <a:solidFill>
                  <a:schemeClr val="bg1"/>
                </a:solidFill>
              </a:rPr>
              <a:t>action can lead to more secure and compliant code suggestions, but it might also reduce the overall context available to GitHub Copilot. </a:t>
            </a:r>
            <a:endParaRPr lang="en-US" dirty="0" smtClean="0">
              <a:solidFill>
                <a:schemeClr val="bg1"/>
              </a:solidFill>
            </a:endParaRPr>
          </a:p>
          <a:p>
            <a:r>
              <a:rPr lang="en-US" dirty="0" smtClean="0">
                <a:solidFill>
                  <a:schemeClr val="bg1"/>
                </a:solidFill>
              </a:rPr>
              <a:t>This </a:t>
            </a:r>
            <a:r>
              <a:rPr lang="en-US" dirty="0">
                <a:solidFill>
                  <a:schemeClr val="bg1"/>
                </a:solidFill>
              </a:rPr>
              <a:t>reduction could potentially affect the accuracy and usefulness of the suggestions.</a:t>
            </a:r>
          </a:p>
          <a:p>
            <a:endParaRPr lang="en-IN" dirty="0"/>
          </a:p>
        </p:txBody>
      </p:sp>
    </p:spTree>
    <p:extLst>
      <p:ext uri="{BB962C8B-B14F-4D97-AF65-F5344CB8AC3E}">
        <p14:creationId xmlns:p14="http://schemas.microsoft.com/office/powerpoint/2010/main" val="386990283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solidFill>
                  <a:srgbClr val="00B050"/>
                </a:solidFill>
              </a:rPr>
              <a:t>Limitations of content </a:t>
            </a:r>
            <a:r>
              <a:rPr lang="en-IN" b="1" dirty="0" smtClean="0">
                <a:solidFill>
                  <a:srgbClr val="00B050"/>
                </a:solidFill>
              </a:rPr>
              <a:t>exclusions</a:t>
            </a:r>
            <a:endParaRPr lang="en-IN" dirty="0">
              <a:solidFill>
                <a:srgbClr val="00B050"/>
              </a:solidFill>
            </a:endParaRPr>
          </a:p>
        </p:txBody>
      </p:sp>
      <p:sp>
        <p:nvSpPr>
          <p:cNvPr id="3" name="Content Placeholder 2"/>
          <p:cNvSpPr>
            <a:spLocks noGrp="1"/>
          </p:cNvSpPr>
          <p:nvPr>
            <p:ph idx="1"/>
          </p:nvPr>
        </p:nvSpPr>
        <p:spPr/>
        <p:txBody>
          <a:bodyPr>
            <a:normAutofit fontScale="92500" lnSpcReduction="10000"/>
          </a:bodyPr>
          <a:lstStyle/>
          <a:p>
            <a:r>
              <a:rPr lang="en-US" b="1" dirty="0">
                <a:solidFill>
                  <a:srgbClr val="FFC000"/>
                </a:solidFill>
              </a:rPr>
              <a:t>IDE limitations</a:t>
            </a:r>
            <a:r>
              <a:rPr lang="en-US" dirty="0">
                <a:solidFill>
                  <a:srgbClr val="FFC000"/>
                </a:solidFill>
              </a:rPr>
              <a:t>: </a:t>
            </a:r>
            <a:r>
              <a:rPr lang="en-US" dirty="0">
                <a:solidFill>
                  <a:schemeClr val="bg1"/>
                </a:solidFill>
              </a:rPr>
              <a:t>In some integrated development environments (IDEs), content exclusions might not apply when you're using certain features, such as Copilot Chat</a:t>
            </a:r>
            <a:r>
              <a:rPr lang="en-US" dirty="0" smtClean="0">
                <a:solidFill>
                  <a:schemeClr val="bg1"/>
                </a:solidFill>
              </a:rPr>
              <a:t>.</a:t>
            </a:r>
          </a:p>
          <a:p>
            <a:r>
              <a:rPr lang="en-US" b="1" dirty="0">
                <a:solidFill>
                  <a:srgbClr val="FFC000"/>
                </a:solidFill>
              </a:rPr>
              <a:t>Policy scope</a:t>
            </a:r>
            <a:r>
              <a:rPr lang="en-US" dirty="0">
                <a:solidFill>
                  <a:srgbClr val="FFC000"/>
                </a:solidFill>
              </a:rPr>
              <a:t>: </a:t>
            </a:r>
            <a:r>
              <a:rPr lang="en-US" dirty="0">
                <a:solidFill>
                  <a:schemeClr val="bg1"/>
                </a:solidFill>
              </a:rPr>
              <a:t>Content exclusion settings apply only to members of the organization in which you configure the content exclusion. Anyone else who can access the specified files can still see code completion suggestions and Copilot Chat responses referencing the specified files.</a:t>
            </a:r>
          </a:p>
          <a:p>
            <a:endParaRPr lang="en-IN" dirty="0"/>
          </a:p>
        </p:txBody>
      </p:sp>
    </p:spTree>
    <p:extLst>
      <p:ext uri="{BB962C8B-B14F-4D97-AF65-F5344CB8AC3E}">
        <p14:creationId xmlns:p14="http://schemas.microsoft.com/office/powerpoint/2010/main" val="138745032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3020</TotalTime>
  <Words>1543</Words>
  <Application>Microsoft Office PowerPoint</Application>
  <PresentationFormat>On-screen Show (4:3)</PresentationFormat>
  <Paragraphs>100</Paragraphs>
  <Slides>25</Slides>
  <Notes>0</Notes>
  <HiddenSlides>0</HiddenSlides>
  <MMClips>0</MMClip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Office Theme</vt:lpstr>
      <vt:lpstr>DOCUMENTATION</vt:lpstr>
      <vt:lpstr>Generate inline code documentation using GitHub Copilot</vt:lpstr>
      <vt:lpstr>Generate inline code documentation using GitHub Copilot</vt:lpstr>
      <vt:lpstr>Generate inline code documentation using GitHub Copilot</vt:lpstr>
      <vt:lpstr>Generate project documentation using GitHub Copilot</vt:lpstr>
      <vt:lpstr>For example, the README.md could include the following sections:</vt:lpstr>
      <vt:lpstr>Generate project documentation using GitHub Copilot</vt:lpstr>
      <vt:lpstr>Ask mode  example</vt:lpstr>
      <vt:lpstr>Generate project documentation using GitHub Copilot</vt:lpstr>
      <vt:lpstr>Agent mode  example</vt:lpstr>
      <vt:lpstr>Generate project documentation using GitHub Copilot</vt:lpstr>
      <vt:lpstr>Agent mode  example</vt:lpstr>
      <vt:lpstr>GitHub Copilot plans</vt:lpstr>
      <vt:lpstr>GitHub Copilot plans</vt:lpstr>
      <vt:lpstr>GitHub Copilot plans</vt:lpstr>
      <vt:lpstr>Data privacy and security</vt:lpstr>
      <vt:lpstr>Policy management</vt:lpstr>
      <vt:lpstr>Data collection and retention</vt:lpstr>
      <vt:lpstr>IP indemnity and data privacy</vt:lpstr>
      <vt:lpstr>IP indemnity</vt:lpstr>
      <vt:lpstr>Filtering out matching public code</vt:lpstr>
      <vt:lpstr>Manage content exclusions</vt:lpstr>
      <vt:lpstr>Impact of content exclusion on code suggestions</vt:lpstr>
      <vt:lpstr>Impact of content exclusion on code suggestions</vt:lpstr>
      <vt:lpstr>Limitations of content exclusions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Ramnath Nishad</dc:creator>
  <cp:lastModifiedBy>Ramnath Nishad</cp:lastModifiedBy>
  <cp:revision>76</cp:revision>
  <dcterms:created xsi:type="dcterms:W3CDTF">2025-07-05T03:07:48Z</dcterms:created>
  <dcterms:modified xsi:type="dcterms:W3CDTF">2026-05-13T06:55:58Z</dcterms:modified>
</cp:coreProperties>
</file>